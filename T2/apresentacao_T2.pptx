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presProps" Target="presProps.xml"/>
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400" spc="-1" strike="noStrike">
                <a:solidFill>
                  <a:srgbClr val="1b2631"/>
                </a:solidFill>
                <a:latin typeface="Calibri"/>
              </a:defRPr>
            </a:pPr>
            <a:r>
              <a:rPr b="0" sz="1400" spc="-1" strike="noStrike">
                <a:solidFill>
                  <a:srgbClr val="1b2631"/>
                </a:solidFill>
                <a:latin typeface="Calibri"/>
              </a:rPr>
              <a:t>N1_Triagem · G/G/1/8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P(n) %</c:v>
                </c:pt>
              </c:strCache>
            </c:strRef>
          </c:tx>
          <c:spPr>
            <a:solidFill>
              <a:srgbClr val="0e8c97"/>
            </a:solidFill>
            <a:ln w="0">
              <a:noFill/>
            </a:ln>
          </c:spPr>
          <c:invertIfNegative val="0"/>
          <c:dLbls>
            <c:numFmt formatCode="0.0" sourceLinked="0"/>
            <c:txPr>
              <a:bodyPr wrap="square"/>
              <a:lstStyle/>
              <a:p>
                <a:pPr>
                  <a:defRPr b="0" sz="1100" spc="-1" strike="noStrike">
                    <a:solidFill>
                      <a:srgbClr val="1b2631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32.75</c:v>
                </c:pt>
                <c:pt idx="1">
                  <c:v>58.07</c:v>
                </c:pt>
                <c:pt idx="2">
                  <c:v>9.01</c:v>
                </c:pt>
                <c:pt idx="3">
                  <c:v>0.17</c:v>
                </c:pt>
              </c:numCache>
            </c:numRef>
          </c:val>
        </c:ser>
        <c:gapWidth val="45"/>
        <c:overlap val="0"/>
        <c:axId val="19952123"/>
        <c:axId val="52204471"/>
      </c:barChart>
      <c:catAx>
        <c:axId val="19952123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0" sz="1200" spc="-1" strike="noStrike">
                    <a:solidFill>
                      <a:srgbClr val="6b7a89"/>
                    </a:solidFill>
                    <a:latin typeface="Calibri"/>
                  </a:defRPr>
                </a:pPr>
                <a:r>
                  <a:rPr b="0" sz="1200" spc="-1" strike="noStrike">
                    <a:solidFill>
                      <a:srgbClr val="6b7a89"/>
                    </a:solidFill>
                    <a:latin typeface="Calibri"/>
                  </a:rPr>
                  <a:t>estado n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b7a89"/>
                </a:solidFill>
                <a:latin typeface="Calibri"/>
              </a:defRPr>
            </a:pPr>
          </a:p>
        </c:txPr>
        <c:crossAx val="52204471"/>
        <c:crosses val="autoZero"/>
        <c:auto val="1"/>
        <c:lblAlgn val="ctr"/>
        <c:lblOffset val="100"/>
        <c:noMultiLvlLbl val="0"/>
      </c:catAx>
      <c:valAx>
        <c:axId val="52204471"/>
        <c:scaling>
          <c:orientation val="minMax"/>
          <c:max val="70"/>
          <c:min val="0"/>
        </c:scaling>
        <c:delete val="0"/>
        <c:axPos val="l"/>
        <c:majorGridlines>
          <c:spPr>
            <a:ln w="9360">
              <a:solidFill>
                <a:srgbClr val="e1e7ec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b="0" sz="1200" spc="-1" strike="noStrike">
                    <a:solidFill>
                      <a:srgbClr val="6b7a89"/>
                    </a:solidFill>
                    <a:latin typeface="Calibri"/>
                  </a:defRPr>
                </a:pPr>
                <a:r>
                  <a:rPr b="0" sz="1200" spc="-1" strike="noStrike">
                    <a:solidFill>
                      <a:srgbClr val="6b7a89"/>
                    </a:solidFill>
                    <a:latin typeface="Calibri"/>
                  </a:rPr>
                  <a:t>P(n) %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0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100" spc="-1" strike="noStrike">
                <a:solidFill>
                  <a:srgbClr val="6b7a89"/>
                </a:solidFill>
                <a:latin typeface="Calibri"/>
              </a:defRPr>
            </a:pPr>
          </a:p>
        </c:txPr>
        <c:crossAx val="19952123"/>
        <c:crosses val="autoZero"/>
        <c:crossBetween val="between"/>
        <c:majorUnit val="10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400" spc="-1" strike="noStrike">
                <a:solidFill>
                  <a:srgbClr val="1b2631"/>
                </a:solidFill>
                <a:latin typeface="Calibri"/>
              </a:defRPr>
            </a:pPr>
            <a:r>
              <a:rPr b="0" sz="1400" spc="-1" strike="noStrike">
                <a:solidFill>
                  <a:srgbClr val="1b2631"/>
                </a:solidFill>
                <a:latin typeface="Calibri"/>
              </a:rPr>
              <a:t>N2_Tecnico · G/G/1/5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P(n) %</c:v>
                </c:pt>
              </c:strCache>
            </c:strRef>
          </c:tx>
          <c:spPr>
            <a:solidFill>
              <a:srgbClr val="d9771a"/>
            </a:solidFill>
            <a:ln w="0">
              <a:noFill/>
            </a:ln>
          </c:spPr>
          <c:invertIfNegative val="0"/>
          <c:dLbls>
            <c:numFmt formatCode="0.0" sourceLinked="0"/>
            <c:txPr>
              <a:bodyPr wrap="square"/>
              <a:lstStyle/>
              <a:p>
                <a:pPr>
                  <a:defRPr b="0" sz="1100" spc="-1" strike="noStrike">
                    <a:solidFill>
                      <a:srgbClr val="1b2631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6.51</c:v>
                </c:pt>
                <c:pt idx="1">
                  <c:v>15.02</c:v>
                </c:pt>
                <c:pt idx="2">
                  <c:v>18.91</c:v>
                </c:pt>
                <c:pt idx="3">
                  <c:v>21.72</c:v>
                </c:pt>
                <c:pt idx="4">
                  <c:v>24.7</c:v>
                </c:pt>
                <c:pt idx="5">
                  <c:v>13.15</c:v>
                </c:pt>
              </c:numCache>
            </c:numRef>
          </c:val>
        </c:ser>
        <c:gapWidth val="45"/>
        <c:overlap val="0"/>
        <c:axId val="48942678"/>
        <c:axId val="3204942"/>
      </c:barChart>
      <c:catAx>
        <c:axId val="48942678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0" sz="1200" spc="-1" strike="noStrike">
                    <a:solidFill>
                      <a:srgbClr val="6b7a89"/>
                    </a:solidFill>
                    <a:latin typeface="Calibri"/>
                  </a:defRPr>
                </a:pPr>
                <a:r>
                  <a:rPr b="0" sz="1200" spc="-1" strike="noStrike">
                    <a:solidFill>
                      <a:srgbClr val="6b7a89"/>
                    </a:solidFill>
                    <a:latin typeface="Calibri"/>
                  </a:rPr>
                  <a:t>estado n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b7a89"/>
                </a:solidFill>
                <a:latin typeface="Calibri"/>
              </a:defRPr>
            </a:pPr>
          </a:p>
        </c:txPr>
        <c:crossAx val="3204942"/>
        <c:crosses val="autoZero"/>
        <c:auto val="1"/>
        <c:lblAlgn val="ctr"/>
        <c:lblOffset val="100"/>
        <c:noMultiLvlLbl val="0"/>
      </c:catAx>
      <c:valAx>
        <c:axId val="3204942"/>
        <c:scaling>
          <c:orientation val="minMax"/>
          <c:max val="70"/>
          <c:min val="0"/>
        </c:scaling>
        <c:delete val="0"/>
        <c:axPos val="l"/>
        <c:majorGridlines>
          <c:spPr>
            <a:ln w="9360">
              <a:solidFill>
                <a:srgbClr val="e1e7ec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b="0" sz="1200" spc="-1" strike="noStrike">
                    <a:solidFill>
                      <a:srgbClr val="6b7a89"/>
                    </a:solidFill>
                    <a:latin typeface="Calibri"/>
                  </a:defRPr>
                </a:pPr>
                <a:r>
                  <a:rPr b="0" sz="1200" spc="-1" strike="noStrike">
                    <a:solidFill>
                      <a:srgbClr val="6b7a89"/>
                    </a:solidFill>
                    <a:latin typeface="Calibri"/>
                  </a:rPr>
                  <a:t>P(n) %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0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100" spc="-1" strike="noStrike">
                <a:solidFill>
                  <a:srgbClr val="6b7a89"/>
                </a:solidFill>
                <a:latin typeface="Calibri"/>
              </a:defRPr>
            </a:pPr>
          </a:p>
        </c:txPr>
        <c:crossAx val="48942678"/>
        <c:crosses val="autoZero"/>
        <c:crossBetween val="between"/>
        <c:majorUnit val="10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400" spc="-1" strike="noStrike">
                <a:solidFill>
                  <a:srgbClr val="1b2631"/>
                </a:solidFill>
                <a:latin typeface="Calibri"/>
              </a:defRPr>
            </a:pPr>
            <a:r>
              <a:rPr b="0" sz="1400" spc="-1" strike="noStrike">
                <a:solidFill>
                  <a:srgbClr val="1b2631"/>
                </a:solidFill>
                <a:latin typeface="Calibri"/>
              </a:rPr>
              <a:t>N3_Engenharia · G/G/2/6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P(n) %</c:v>
                </c:pt>
              </c:strCache>
            </c:strRef>
          </c:tx>
          <c:spPr>
            <a:solidFill>
              <a:srgbClr val="5b5fc7"/>
            </a:solidFill>
            <a:ln w="0">
              <a:noFill/>
            </a:ln>
          </c:spPr>
          <c:invertIfNegative val="0"/>
          <c:dLbls>
            <c:numFmt formatCode="0.0" sourceLinked="0"/>
            <c:txPr>
              <a:bodyPr wrap="square"/>
              <a:lstStyle/>
              <a:p>
                <a:pPr>
                  <a:defRPr b="0" sz="1100" spc="-1" strike="noStrike">
                    <a:solidFill>
                      <a:srgbClr val="1b2631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65.54</c:v>
                </c:pt>
                <c:pt idx="1">
                  <c:v>30.84</c:v>
                </c:pt>
                <c:pt idx="2">
                  <c:v>3.57</c:v>
                </c:pt>
                <c:pt idx="3">
                  <c:v>0.05</c:v>
                </c:pt>
              </c:numCache>
            </c:numRef>
          </c:val>
        </c:ser>
        <c:gapWidth val="45"/>
        <c:overlap val="0"/>
        <c:axId val="75870112"/>
        <c:axId val="75304459"/>
      </c:barChart>
      <c:catAx>
        <c:axId val="75870112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0" sz="1200" spc="-1" strike="noStrike">
                    <a:solidFill>
                      <a:srgbClr val="6b7a89"/>
                    </a:solidFill>
                    <a:latin typeface="Calibri"/>
                  </a:defRPr>
                </a:pPr>
                <a:r>
                  <a:rPr b="0" sz="1200" spc="-1" strike="noStrike">
                    <a:solidFill>
                      <a:srgbClr val="6b7a89"/>
                    </a:solidFill>
                    <a:latin typeface="Calibri"/>
                  </a:rPr>
                  <a:t>estado n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b7a89"/>
                </a:solidFill>
                <a:latin typeface="Calibri"/>
              </a:defRPr>
            </a:pPr>
          </a:p>
        </c:txPr>
        <c:crossAx val="75304459"/>
        <c:crosses val="autoZero"/>
        <c:auto val="1"/>
        <c:lblAlgn val="ctr"/>
        <c:lblOffset val="100"/>
        <c:noMultiLvlLbl val="0"/>
      </c:catAx>
      <c:valAx>
        <c:axId val="75304459"/>
        <c:scaling>
          <c:orientation val="minMax"/>
          <c:max val="70"/>
          <c:min val="0"/>
        </c:scaling>
        <c:delete val="0"/>
        <c:axPos val="l"/>
        <c:majorGridlines>
          <c:spPr>
            <a:ln w="9360">
              <a:solidFill>
                <a:srgbClr val="e1e7ec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b="0" sz="1200" spc="-1" strike="noStrike">
                    <a:solidFill>
                      <a:srgbClr val="6b7a89"/>
                    </a:solidFill>
                    <a:latin typeface="Calibri"/>
                  </a:defRPr>
                </a:pPr>
                <a:r>
                  <a:rPr b="0" sz="1200" spc="-1" strike="noStrike">
                    <a:solidFill>
                      <a:srgbClr val="6b7a89"/>
                    </a:solidFill>
                    <a:latin typeface="Calibri"/>
                  </a:rPr>
                  <a:t>P(n) %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0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100" spc="-1" strike="noStrike">
                <a:solidFill>
                  <a:srgbClr val="6b7a89"/>
                </a:solidFill>
                <a:latin typeface="Calibri"/>
              </a:defRPr>
            </a:pPr>
          </a:p>
        </c:txPr>
        <c:crossAx val="75870112"/>
        <c:crosses val="autoZero"/>
        <c:crossBetween val="between"/>
        <c:majorUnit val="10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400" spc="-1" strike="noStrike">
                <a:solidFill>
                  <a:srgbClr val="1b2631"/>
                </a:solidFill>
                <a:latin typeface="Calibri"/>
              </a:defRPr>
            </a:pPr>
            <a:r>
              <a:rPr b="0" sz="1400" spc="-1" strike="noStrike">
                <a:solidFill>
                  <a:srgbClr val="1b2631"/>
                </a:solidFill>
                <a:latin typeface="Calibri"/>
              </a:rPr>
              <a:t>Utilização (%)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Atual</c:v>
                </c:pt>
              </c:strCache>
            </c:strRef>
          </c:tx>
          <c:spPr>
            <a:solidFill>
              <a:srgbClr val="a7b3be"/>
            </a:solidFill>
            <a:ln w="0">
              <a:noFill/>
            </a:ln>
          </c:spPr>
          <c:invertIfNegative val="0"/>
          <c:dLbls>
            <c:numFmt formatCode="0.0" sourceLinked="0"/>
            <c:txPr>
              <a:bodyPr wrap="square"/>
              <a:lstStyle/>
              <a:p>
                <a:pPr>
                  <a:defRPr b="0" sz="1100" spc="-1" strike="noStrike">
                    <a:solidFill>
                      <a:srgbClr val="1b2631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N1</c:v>
                </c:pt>
                <c:pt idx="1">
                  <c:v>N2</c:v>
                </c:pt>
                <c:pt idx="2">
                  <c:v>N3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67.25</c:v>
                </c:pt>
                <c:pt idx="1">
                  <c:v>93.49</c:v>
                </c:pt>
                <c:pt idx="2">
                  <c:v>19.04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Melhorado</c:v>
                </c:pt>
              </c:strCache>
            </c:strRef>
          </c:tx>
          <c:spPr>
            <a:solidFill>
              <a:srgbClr val="2e9e5b"/>
            </a:solidFill>
            <a:ln w="0">
              <a:noFill/>
            </a:ln>
          </c:spPr>
          <c:invertIfNegative val="0"/>
          <c:dLbls>
            <c:numFmt formatCode="0.0" sourceLinked="0"/>
            <c:txPr>
              <a:bodyPr wrap="square"/>
              <a:lstStyle/>
              <a:p>
                <a:pPr>
                  <a:defRPr b="0" sz="1100" spc="-1" strike="noStrike">
                    <a:solidFill>
                      <a:srgbClr val="1b2631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N1</c:v>
                </c:pt>
                <c:pt idx="1">
                  <c:v>N2</c:v>
                </c:pt>
                <c:pt idx="2">
                  <c:v>N3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68.57</c:v>
                </c:pt>
                <c:pt idx="1">
                  <c:v>53.98</c:v>
                </c:pt>
                <c:pt idx="2">
                  <c:v>44.38</c:v>
                </c:pt>
              </c:numCache>
            </c:numRef>
          </c:val>
        </c:ser>
        <c:gapWidth val="60"/>
        <c:overlap val="0"/>
        <c:axId val="95648789"/>
        <c:axId val="13520643"/>
      </c:barChart>
      <c:catAx>
        <c:axId val="9564878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b7a89"/>
                </a:solidFill>
                <a:latin typeface="Calibri"/>
              </a:defRPr>
            </a:pPr>
          </a:p>
        </c:txPr>
        <c:crossAx val="13520643"/>
        <c:crosses val="autoZero"/>
        <c:auto val="1"/>
        <c:lblAlgn val="ctr"/>
        <c:lblOffset val="100"/>
        <c:noMultiLvlLbl val="0"/>
      </c:catAx>
      <c:valAx>
        <c:axId val="13520643"/>
        <c:scaling>
          <c:orientation val="minMax"/>
          <c:max val="100"/>
          <c:min val="0"/>
        </c:scaling>
        <c:delete val="0"/>
        <c:axPos val="l"/>
        <c:majorGridlines>
          <c:spPr>
            <a:ln w="9360">
              <a:solidFill>
                <a:srgbClr val="e1e7ec"/>
              </a:solidFill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100" spc="-1" strike="noStrike">
                <a:solidFill>
                  <a:srgbClr val="6b7a89"/>
                </a:solidFill>
                <a:latin typeface="Calibri"/>
              </a:defRPr>
            </a:pPr>
          </a:p>
        </c:txPr>
        <c:crossAx val="95648789"/>
        <c:crosses val="autoZero"/>
        <c:crossBetween val="between"/>
        <c:majorUnit val="20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200" spc="-1" strike="noStrike">
              <a:solidFill>
                <a:srgbClr val="1b2631"/>
              </a:solidFill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400" spc="-1" strike="noStrike">
                <a:solidFill>
                  <a:srgbClr val="1b2631"/>
                </a:solidFill>
                <a:latin typeface="Calibri"/>
              </a:defRPr>
            </a:pPr>
            <a:r>
              <a:rPr b="0" sz="1400" spc="-1" strike="noStrike">
                <a:solidFill>
                  <a:srgbClr val="1b2631"/>
                </a:solidFill>
                <a:latin typeface="Calibri"/>
              </a:rPr>
              <a:t>N2_Tecnico · P(n) % por estado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Atual G/G/1/5</c:v>
                </c:pt>
              </c:strCache>
            </c:strRef>
          </c:tx>
          <c:spPr>
            <a:solidFill>
              <a:srgbClr val="a7b3be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100" spc="-1" strike="noStrike">
                    <a:solidFill>
                      <a:srgbClr val="1b2631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9"/>
                <c:pt idx="0">
                  <c:v>6.51</c:v>
                </c:pt>
                <c:pt idx="1">
                  <c:v>15.02</c:v>
                </c:pt>
                <c:pt idx="2">
                  <c:v>18.91</c:v>
                </c:pt>
                <c:pt idx="3">
                  <c:v>21.72</c:v>
                </c:pt>
                <c:pt idx="4">
                  <c:v>24.7</c:v>
                </c:pt>
                <c:pt idx="5">
                  <c:v>13.15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Melhorado G/G/2/8</c:v>
                </c:pt>
              </c:strCache>
            </c:strRef>
          </c:tx>
          <c:spPr>
            <a:solidFill>
              <a:srgbClr val="2e9e5b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100" spc="-1" strike="noStrike">
                    <a:solidFill>
                      <a:srgbClr val="1b2631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9"/>
                <c:pt idx="0">
                  <c:v>25.52</c:v>
                </c:pt>
                <c:pt idx="1">
                  <c:v>41</c:v>
                </c:pt>
                <c:pt idx="2">
                  <c:v>24.38</c:v>
                </c:pt>
                <c:pt idx="3">
                  <c:v>7.32</c:v>
                </c:pt>
                <c:pt idx="4">
                  <c:v>1.48</c:v>
                </c:pt>
                <c:pt idx="5">
                  <c:v>0.25</c:v>
                </c:pt>
                <c:pt idx="6">
                  <c:v>0.04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gapWidth val="40"/>
        <c:overlap val="0"/>
        <c:axId val="16764407"/>
        <c:axId val="8312409"/>
      </c:barChart>
      <c:catAx>
        <c:axId val="16764407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0" sz="1200" spc="-1" strike="noStrike">
                    <a:solidFill>
                      <a:srgbClr val="6b7a89"/>
                    </a:solidFill>
                    <a:latin typeface="Calibri"/>
                  </a:defRPr>
                </a:pPr>
                <a:r>
                  <a:rPr b="0" sz="1200" spc="-1" strike="noStrike">
                    <a:solidFill>
                      <a:srgbClr val="6b7a89"/>
                    </a:solidFill>
                    <a:latin typeface="Calibri"/>
                  </a:rPr>
                  <a:t>estado n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b7a89"/>
                </a:solidFill>
                <a:latin typeface="Calibri"/>
              </a:defRPr>
            </a:pPr>
          </a:p>
        </c:txPr>
        <c:crossAx val="8312409"/>
        <c:crosses val="autoZero"/>
        <c:auto val="1"/>
        <c:lblAlgn val="ctr"/>
        <c:lblOffset val="100"/>
        <c:noMultiLvlLbl val="0"/>
      </c:catAx>
      <c:valAx>
        <c:axId val="8312409"/>
        <c:scaling>
          <c:orientation val="minMax"/>
          <c:max val="50"/>
          <c:min val="0"/>
        </c:scaling>
        <c:delete val="0"/>
        <c:axPos val="l"/>
        <c:majorGridlines>
          <c:spPr>
            <a:ln w="9360">
              <a:solidFill>
                <a:srgbClr val="e1e7ec"/>
              </a:solidFill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100" spc="-1" strike="noStrike">
                <a:solidFill>
                  <a:srgbClr val="6b7a89"/>
                </a:solidFill>
                <a:latin typeface="Calibri"/>
              </a:defRPr>
            </a:pPr>
          </a:p>
        </c:txPr>
        <c:crossAx val="16764407"/>
        <c:crosses val="autoZero"/>
        <c:crossBetween val="between"/>
        <c:majorUnit val="10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200" spc="-1" strike="noStrike">
              <a:solidFill>
                <a:srgbClr val="1b2631"/>
              </a:solidFill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1b263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dt" idx="3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ftr" idx="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PlaceHolder 6"/>
          <p:cNvSpPr>
            <a:spLocks noGrp="1"/>
          </p:cNvSpPr>
          <p:nvPr>
            <p:ph type="sldNum" idx="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94F98E4-4028-4BA3-97EE-FF08FE4025C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Apresentar o grupo e o tema: a central de suporte de TI modelada como uma rede de três filas com retorno, analisada com o simulador desenvolvido pelo grupo.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2764075-3511-453D-92C9-0784B56D2B6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Descrever a realidade: central de suporte com três níveis. Destacar os dois retornos (N2 volta ao N1 e N3 volta ao N2), que tornam a rede não-tandem, e a capacidade limitada que gera perdas.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46E1ED8-8B52-47A0-B712-7611F9A9482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Percorrer o desenho: chegada externa no N1, notação de Kendall de cada fila, probabilidades de roteamento e saídas. Explicar os parâmetros da simulação: filas vazias, primeira chegada em 2,0, 100 mil aleatórios e média de 5 sementes.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1FFEE88-35D3-4AC9-902A-8AD5E0BCED8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Mostrar a verificação analítica: resolvendo as equações de tráfego, o N2 tem rho maior que 1. Como a capacidade é finita, a fila não explode, mas fica cheia e perde chamados. Já o N3 tem carga de apenas 22%.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6DE0014-73B4-445E-BF38-0FA05D656E8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Distribuição de probabilidades de cada fila (média de 5 sementes). N1 quase sempre com 0 ou 1 chamado. N2 concentrada nos estados altos, cheia 13% do tempo. N3 vazia na maior parte do tempo.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F7696B-339E-436E-8F24-5EBD7B06D3B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Tabela de índices: utilização, vazão, população, tempo de resposta. Chamar atenção para a linha do N2. Na rede completa: 5,2% dos chamados perdidos e tempo médio de 11,9 minutos na central.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312C54E-065E-45E2-9F65-A749EF5A979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Diagnóstico: o N2 é o gargalo — 93,5% de utilização, 11 minutos de espera e 9,3% de perda. Ao mesmo tempo o N3 tem dois engenheiros ociosos 81% do tempo. Os retornos fazem o N2 receber trabalho do N1 e do N3.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3107736-6B4F-45B7-9F96-2E55F7C0CEC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Proposta de melhoria sem contratação: um engenheiro do N3 passa a atuar no N2 (servidores do N2 de 1 para 2, do N3 de 2 para 1) e o limite de chamados abertos do N2 sobe de 5 para 8. Roteamento e tempos permanecem iguais. Pela análise, as duas filas ficam estáveis.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B1D92EC-2963-4DB4-A27D-7BC92DD6460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Comparação por fila. O N2 cai de 93% para 54% de utilização, o tempo de resposta cai 63% e as perdas zeram. O N3 passa a 44% de utilização, com 3 minutos de espera — custo aceitável.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226981F-2D7B-4171-B27B-FEA82F8F95E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Distribuição do N2 antes e depois: a massa de probabilidade sai dos estados altos e vai para 0, 1 e 2. Na rede inteira: perdas zeram, o tempo médio de um chamado cai de 11,9 para 7,8 minutos e a central passa a resolver todos os chamados que recebe.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971CE85-C264-49B9-8BEE-4319FDC4090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Validação: rodamos nosso simulador e o simulator.jar com 20 sementes no modelo do hospital e nos dois modelos do T2. Todas as diferenças ficaram abaixo de um desvio-padrão, e as utilizações batem com a análise das equações de tráfego.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A1982D6-2871-4ADA-B091-ED0C95BE7B0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Fechamento: retomar gargalo, melhoria, custo e próximos passos. Agradecer.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AB32B64-1B09-40B4-BFBB-586BCCF27D9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48640" y="320040"/>
            <a:ext cx="11063880" cy="360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3E7CD10-AC8B-4800-AF5E-751935D59379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A2F4846-69E0-4C58-80B6-0AF7E1644BF3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A934F33-5690-4A13-930D-13F0D38463A9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AF2F981-3F3C-4FC4-8066-B2C949B78CF4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0CE1C06-1AC7-4885-B197-9C1DCA9D45DF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548640" y="320040"/>
            <a:ext cx="11063880" cy="360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7EA7D3D-03D8-40E0-B9AD-584F93598751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097465F-167F-45FE-9E06-3FE6B29BE17C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A9818F3-362C-42E6-8E9A-237C169B8E4F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51995B1-B467-468D-ADC2-56789009CECD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D2985FD-5E76-47C6-B53F-84400AF5FCC7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CB54482-2DC7-46F9-B699-EA59D9FF8EDE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08E381B-1E1B-433A-82F6-22E2F51EB760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B0B05D2-5B92-4A94-ABBA-A9F3E486D07D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0B971AC-C937-4AE0-A78A-4CBF10B7B413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9B200B3-7A0C-4DB2-AFDB-7728A4ED1800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B168992-FDDE-463F-BBF2-1792A17592BD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19C336B-B960-4D83-AD58-24F1ECC57829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ubTitle"/>
          </p:nvPr>
        </p:nvSpPr>
        <p:spPr>
          <a:xfrm>
            <a:off x="548640" y="320040"/>
            <a:ext cx="11063880" cy="360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B2AF2D3-33BC-421F-B6EE-91B45E65E01F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B50D39E-9E8E-46D4-AEDD-C5BEE8CE65BA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F15B06F-B850-46B5-B285-97780BD8DD53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87105F4-6F49-45B9-B727-110B651D0131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B8C3A26-3269-43C4-92BF-4DC6F569D200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356810A-8075-43F0-BBE0-04DAFA5AB227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ED0C6D2-AEBD-46B8-9813-005B92F20833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731520" y="1463040"/>
            <a:ext cx="6766200" cy="201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1b2631"/>
                </a:solidFill>
                <a:latin typeface="Calibri"/>
              </a:rPr>
              <a:t>Click to edit the title text format</a:t>
            </a:r>
            <a:endParaRPr b="0" lang="en-US" sz="36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731520" y="3657600"/>
            <a:ext cx="6766200" cy="54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b2631"/>
                </a:solidFill>
                <a:latin typeface="Calibri"/>
              </a:rPr>
              <a:t>Click to edit the outline text format</a:t>
            </a: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1b2631"/>
                </a:solidFill>
                <a:latin typeface="Calibri"/>
              </a:rPr>
              <a:t>Second Outline Level</a:t>
            </a: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b263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1b263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b2631"/>
                </a:solidFill>
                <a:latin typeface="Calibri"/>
              </a:rPr>
              <a:t>Fifth Outline Level</a:t>
            </a: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b2631"/>
                </a:solidFill>
                <a:latin typeface="Calibri"/>
              </a:rPr>
              <a:t>Sixth Outline Level</a:t>
            </a: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b2631"/>
                </a:solidFill>
                <a:latin typeface="Calibri"/>
              </a:rPr>
              <a:t>Seventh Outline Level</a:t>
            </a: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r>
              <a:rPr b="0" lang="en-US" sz="3000" spc="-1" strike="noStrike">
                <a:solidFill>
                  <a:srgbClr val="1b2631"/>
                </a:solidFill>
                <a:latin typeface="Calibri"/>
              </a:rPr>
              <a:t>Click to edit the title text format</a:t>
            </a:r>
            <a:endParaRPr b="0" lang="en-US" sz="30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39" name="Text 0"/>
          <p:cNvSpPr/>
          <p:nvPr/>
        </p:nvSpPr>
        <p:spPr>
          <a:xfrm>
            <a:off x="54864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accent6"/>
                </a:solidFill>
                <a:latin typeface="Calibri"/>
              </a:rPr>
              <a:t>T2 · Métodos Analíticos · Central de Suporte de TI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1"/>
          </p:nvPr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6b7a89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3A1A36E-ED8E-45EA-9A01-437F2D175009}" type="slidenum">
              <a:rPr b="0" lang="en-US" sz="1000" spc="-1" strike="noStrike">
                <a:solidFill>
                  <a:srgbClr val="6b7a89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1b263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1b263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1b263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b263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1b263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1b263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1b263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b263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1b263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b263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1b263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b263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1b263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r>
              <a:rPr b="0" lang="en-US" sz="3000" spc="-1" strike="noStrike">
                <a:solidFill>
                  <a:srgbClr val="1b2631"/>
                </a:solidFill>
                <a:latin typeface="Calibri"/>
              </a:rPr>
              <a:t>Click to edit the title text format</a:t>
            </a:r>
            <a:endParaRPr b="0" lang="en-US" sz="30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ldNum" idx="2"/>
          </p:nvPr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8fa6b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467C984-E210-4D8F-A6A3-CFEC33206A54}" type="slidenum">
              <a:rPr b="0" lang="en-US" sz="1000" spc="-1" strike="noStrike">
                <a:solidFill>
                  <a:srgbClr val="8fa6b5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1b263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1b263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1b263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1b263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b263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1b263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1b263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1b263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b263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1b263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b263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1b263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b263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1b263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chart" Target="../charts/chart9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chart" Target="../charts/chart10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25.xml"/><Relationship Id="rId6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731520" y="1463040"/>
            <a:ext cx="6766200" cy="201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mbria"/>
              </a:rPr>
              <a:t>Central de </a:t>
            </a:r>
            <a:r>
              <a:rPr b="1" lang="en-US" sz="3600" spc="-1" strike="noStrike">
                <a:solidFill>
                  <a:srgbClr val="ffffff"/>
                </a:solidFill>
                <a:latin typeface="Cambria"/>
              </a:rPr>
              <a:t>Suporte </a:t>
            </a:r>
            <a:r>
              <a:rPr b="1" lang="en-US" sz="3600" spc="-1" strike="noStrike">
                <a:solidFill>
                  <a:srgbClr val="ffffff"/>
                </a:solidFill>
                <a:latin typeface="Cambria"/>
              </a:rPr>
              <a:t>de TI: </a:t>
            </a:r>
            <a:r>
              <a:rPr b="1" lang="en-US" sz="3600" spc="-1" strike="noStrike">
                <a:solidFill>
                  <a:srgbClr val="ffffff"/>
                </a:solidFill>
                <a:latin typeface="Cambria"/>
              </a:rPr>
              <a:t>análise </a:t>
            </a:r>
            <a:r>
              <a:rPr b="1" lang="en-US" sz="3600" spc="-1" strike="noStrike">
                <a:solidFill>
                  <a:srgbClr val="ffffff"/>
                </a:solidFill>
                <a:latin typeface="Cambria"/>
              </a:rPr>
              <a:t>por </a:t>
            </a:r>
            <a:r>
              <a:rPr b="1" lang="en-US" sz="3600" spc="-1" strike="noStrike">
                <a:solidFill>
                  <a:srgbClr val="ffffff"/>
                </a:solidFill>
                <a:latin typeface="Cambria"/>
              </a:rPr>
              <a:t>simulação </a:t>
            </a:r>
            <a:r>
              <a:rPr b="1" lang="en-US" sz="3600" spc="-1" strike="noStrike">
                <a:solidFill>
                  <a:srgbClr val="ffffff"/>
                </a:solidFill>
                <a:latin typeface="Cambria"/>
              </a:rPr>
              <a:t>de rede de </a:t>
            </a:r>
            <a:r>
              <a:rPr b="1" lang="en-US" sz="3600" spc="-1" strike="noStrike">
                <a:solidFill>
                  <a:srgbClr val="ffffff"/>
                </a:solidFill>
                <a:latin typeface="Cambria"/>
              </a:rPr>
              <a:t>filas</a:t>
            </a:r>
            <a:endParaRPr b="0" lang="en-US" sz="36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731520" y="3657600"/>
            <a:ext cx="6766200" cy="54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bfd3df"/>
                </a:solidFill>
                <a:latin typeface="Calibri"/>
              </a:rPr>
              <a:t>Trabalho 2 · Métodos Analíticos · PUCRS</a:t>
            </a:r>
            <a:endParaRPr b="0" lang="en-US" sz="18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125" name="Text 2"/>
          <p:cNvSpPr/>
          <p:nvPr/>
        </p:nvSpPr>
        <p:spPr>
          <a:xfrm>
            <a:off x="731520" y="5120640"/>
            <a:ext cx="6766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bfd3df"/>
                </a:solidFill>
                <a:latin typeface="Calibri"/>
              </a:rPr>
              <a:t>Integrantes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Pedro Fam · Carolina Leitão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cover N1-N2"/>
          <p:cNvSpPr/>
          <p:nvPr/>
        </p:nvSpPr>
        <p:spPr>
          <a:xfrm>
            <a:off x="9006840" y="2606040"/>
            <a:ext cx="1188720" cy="685800"/>
          </a:xfrm>
          <a:prstGeom prst="line">
            <a:avLst/>
          </a:prstGeom>
          <a:ln w="22225">
            <a:solidFill>
              <a:srgbClr val="8fa6b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cover N2-N3"/>
          <p:cNvSpPr/>
          <p:nvPr/>
        </p:nvSpPr>
        <p:spPr>
          <a:xfrm flipH="1">
            <a:off x="9006840" y="3794760"/>
            <a:ext cx="1188720" cy="640080"/>
          </a:xfrm>
          <a:prstGeom prst="line">
            <a:avLst/>
          </a:prstGeom>
          <a:ln w="22225">
            <a:solidFill>
              <a:srgbClr val="8fa6b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cover return"/>
          <p:cNvSpPr/>
          <p:nvPr/>
        </p:nvSpPr>
        <p:spPr>
          <a:xfrm flipV="1">
            <a:off x="8778240" y="2743200"/>
            <a:ext cx="360" cy="1463040"/>
          </a:xfrm>
          <a:prstGeom prst="line">
            <a:avLst/>
          </a:prstGeom>
          <a:ln w="22225">
            <a:solidFill>
              <a:srgbClr val="8fa6b5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cover node N1"/>
          <p:cNvSpPr/>
          <p:nvPr/>
        </p:nvSpPr>
        <p:spPr>
          <a:xfrm>
            <a:off x="8412480" y="2011680"/>
            <a:ext cx="776880" cy="776880"/>
          </a:xfrm>
          <a:prstGeom prst="ellipse">
            <a:avLst/>
          </a:prstGeom>
          <a:solidFill>
            <a:srgbClr val="0e8c9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7"/>
          <p:cNvSpPr/>
          <p:nvPr/>
        </p:nvSpPr>
        <p:spPr>
          <a:xfrm>
            <a:off x="8412480" y="2011680"/>
            <a:ext cx="776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N1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cover node N2"/>
          <p:cNvSpPr/>
          <p:nvPr/>
        </p:nvSpPr>
        <p:spPr>
          <a:xfrm>
            <a:off x="10149840" y="3108960"/>
            <a:ext cx="776880" cy="776880"/>
          </a:xfrm>
          <a:prstGeom prst="ellipse">
            <a:avLst/>
          </a:prstGeom>
          <a:solidFill>
            <a:srgbClr val="d977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9"/>
          <p:cNvSpPr/>
          <p:nvPr/>
        </p:nvSpPr>
        <p:spPr>
          <a:xfrm>
            <a:off x="10149840" y="3108960"/>
            <a:ext cx="776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N2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cover node N3"/>
          <p:cNvSpPr/>
          <p:nvPr/>
        </p:nvSpPr>
        <p:spPr>
          <a:xfrm>
            <a:off x="8412480" y="4206240"/>
            <a:ext cx="776880" cy="776880"/>
          </a:xfrm>
          <a:prstGeom prst="ellipse">
            <a:avLst/>
          </a:prstGeom>
          <a:solidFill>
            <a:srgbClr val="5b5f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11"/>
          <p:cNvSpPr/>
          <p:nvPr/>
        </p:nvSpPr>
        <p:spPr>
          <a:xfrm>
            <a:off x="8412480" y="4206240"/>
            <a:ext cx="776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N3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0f2a3d"/>
                </a:solidFill>
                <a:latin typeface="Cambria"/>
              </a:rPr>
              <a:t>Chamados </a:t>
            </a:r>
            <a:r>
              <a:rPr b="1" lang="en-US" sz="3000" spc="-1" strike="noStrike">
                <a:solidFill>
                  <a:srgbClr val="0f2a3d"/>
                </a:solidFill>
                <a:latin typeface="Cambria"/>
              </a:rPr>
              <a:t>passam por </a:t>
            </a:r>
            <a:r>
              <a:rPr b="1" lang="en-US" sz="3000" spc="-1" strike="noStrike">
                <a:solidFill>
                  <a:srgbClr val="0f2a3d"/>
                </a:solidFill>
                <a:latin typeface="Cambria"/>
              </a:rPr>
              <a:t>três níveis e </a:t>
            </a:r>
            <a:r>
              <a:rPr b="1" lang="en-US" sz="3000" spc="-1" strike="noStrike">
                <a:solidFill>
                  <a:srgbClr val="0f2a3d"/>
                </a:solidFill>
                <a:latin typeface="Cambria"/>
              </a:rPr>
              <a:t>podem </a:t>
            </a:r>
            <a:r>
              <a:rPr b="1" lang="en-US" sz="3000" spc="-1" strike="noStrike">
                <a:solidFill>
                  <a:srgbClr val="0f2a3d"/>
                </a:solidFill>
                <a:latin typeface="Cambria"/>
              </a:rPr>
              <a:t>voltar</a:t>
            </a:r>
            <a:endParaRPr b="0" lang="en-US" sz="30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136" name="N1 · Triagem card"/>
          <p:cNvSpPr/>
          <p:nvPr/>
        </p:nvSpPr>
        <p:spPr>
          <a:xfrm>
            <a:off x="548640" y="1371600"/>
            <a:ext cx="3520080" cy="3565800"/>
          </a:xfrm>
          <a:prstGeom prst="roundRect">
            <a:avLst>
              <a:gd name="adj" fmla="val 3117"/>
            </a:avLst>
          </a:prstGeom>
          <a:solidFill>
            <a:srgbClr val="e2f3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N1 · Triagem circle"/>
          <p:cNvSpPr/>
          <p:nvPr/>
        </p:nvSpPr>
        <p:spPr>
          <a:xfrm>
            <a:off x="822960" y="1645920"/>
            <a:ext cx="685440" cy="6854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8" name="N1 · Triagem icon" descr="N1 · Triagem"/>
          <p:cNvPicPr/>
          <p:nvPr/>
        </p:nvPicPr>
        <p:blipFill>
          <a:blip r:embed="rId1"/>
          <a:stretch/>
        </p:blipFill>
        <p:spPr>
          <a:xfrm>
            <a:off x="994320" y="1817280"/>
            <a:ext cx="342720" cy="342720"/>
          </a:xfrm>
          <a:prstGeom prst="rect">
            <a:avLst/>
          </a:prstGeom>
          <a:ln w="0">
            <a:noFill/>
          </a:ln>
        </p:spPr>
      </p:pic>
      <p:sp>
        <p:nvSpPr>
          <p:cNvPr id="139" name="Text 3"/>
          <p:cNvSpPr/>
          <p:nvPr/>
        </p:nvSpPr>
        <p:spPr>
          <a:xfrm>
            <a:off x="1645920" y="1645920"/>
            <a:ext cx="2239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accent1"/>
                </a:solidFill>
                <a:latin typeface="Cambria"/>
                <a:ea typeface="Cambria"/>
              </a:rPr>
              <a:t>N1 · Triagem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4"/>
          <p:cNvSpPr/>
          <p:nvPr/>
        </p:nvSpPr>
        <p:spPr>
          <a:xfrm>
            <a:off x="822960" y="2514600"/>
            <a:ext cx="2971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b2631"/>
                </a:solidFill>
                <a:latin typeface="Calibri"/>
              </a:rPr>
              <a:t>Service desk registra o chamado e resolve casos simples (senha, acesso).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5"/>
          <p:cNvSpPr/>
          <p:nvPr/>
        </p:nvSpPr>
        <p:spPr>
          <a:xfrm>
            <a:off x="822960" y="3474720"/>
            <a:ext cx="297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2631"/>
                </a:solidFill>
                <a:latin typeface="Calibri"/>
              </a:rPr>
              <a:t>1 atendente · 1 a 2,5 min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6"/>
          <p:cNvSpPr/>
          <p:nvPr/>
        </p:nvSpPr>
        <p:spPr>
          <a:xfrm>
            <a:off x="822960" y="3931920"/>
            <a:ext cx="2971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accent6"/>
                </a:solidFill>
                <a:latin typeface="Calibri"/>
              </a:rPr>
              <a:t>60% resolvidos · 40% vão ao N2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N2 · Técnico card"/>
          <p:cNvSpPr/>
          <p:nvPr/>
        </p:nvSpPr>
        <p:spPr>
          <a:xfrm>
            <a:off x="4343400" y="1371600"/>
            <a:ext cx="3520080" cy="3565800"/>
          </a:xfrm>
          <a:prstGeom prst="roundRect">
            <a:avLst>
              <a:gd name="adj" fmla="val 3117"/>
            </a:avLst>
          </a:prstGeom>
          <a:solidFill>
            <a:srgbClr val="fcee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N2 · Técnico circle"/>
          <p:cNvSpPr/>
          <p:nvPr/>
        </p:nvSpPr>
        <p:spPr>
          <a:xfrm>
            <a:off x="4617720" y="1645920"/>
            <a:ext cx="685440" cy="68544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N2 · Técnico icon" descr="N2 · Técnico"/>
          <p:cNvPicPr/>
          <p:nvPr/>
        </p:nvPicPr>
        <p:blipFill>
          <a:blip r:embed="rId2"/>
          <a:stretch/>
        </p:blipFill>
        <p:spPr>
          <a:xfrm>
            <a:off x="4789080" y="1817280"/>
            <a:ext cx="342720" cy="342720"/>
          </a:xfrm>
          <a:prstGeom prst="rect">
            <a:avLst/>
          </a:prstGeom>
          <a:ln w="0">
            <a:noFill/>
          </a:ln>
        </p:spPr>
      </p:pic>
      <p:sp>
        <p:nvSpPr>
          <p:cNvPr id="146" name="Text 9"/>
          <p:cNvSpPr/>
          <p:nvPr/>
        </p:nvSpPr>
        <p:spPr>
          <a:xfrm>
            <a:off x="5440680" y="1645920"/>
            <a:ext cx="2239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accent2"/>
                </a:solidFill>
                <a:latin typeface="Cambria"/>
                <a:ea typeface="Cambria"/>
              </a:rPr>
              <a:t>N2 · Técnico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10"/>
          <p:cNvSpPr/>
          <p:nvPr/>
        </p:nvSpPr>
        <p:spPr>
          <a:xfrm>
            <a:off x="4617720" y="2514600"/>
            <a:ext cx="2971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b2631"/>
                </a:solidFill>
                <a:latin typeface="Calibri"/>
              </a:rPr>
              <a:t>Diagnostica e corrige estação, software e rede local.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11"/>
          <p:cNvSpPr/>
          <p:nvPr/>
        </p:nvSpPr>
        <p:spPr>
          <a:xfrm>
            <a:off x="4617720" y="3474720"/>
            <a:ext cx="297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2631"/>
                </a:solidFill>
                <a:latin typeface="Calibri"/>
              </a:rPr>
              <a:t>1 técnico · 4 a 7 min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12"/>
          <p:cNvSpPr/>
          <p:nvPr/>
        </p:nvSpPr>
        <p:spPr>
          <a:xfrm>
            <a:off x="4617720" y="3931920"/>
            <a:ext cx="2971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accent6"/>
                </a:solidFill>
                <a:latin typeface="Calibri"/>
              </a:rPr>
              <a:t>45% resolvidos · 25% vão ao N3 · 30% voltam ao N1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N3 · Engenharia card"/>
          <p:cNvSpPr/>
          <p:nvPr/>
        </p:nvSpPr>
        <p:spPr>
          <a:xfrm>
            <a:off x="8138160" y="1371600"/>
            <a:ext cx="3520080" cy="3565800"/>
          </a:xfrm>
          <a:prstGeom prst="roundRect">
            <a:avLst>
              <a:gd name="adj" fmla="val 3117"/>
            </a:avLst>
          </a:prstGeom>
          <a:solidFill>
            <a:srgbClr val="e8e9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N3 · Engenharia circle"/>
          <p:cNvSpPr/>
          <p:nvPr/>
        </p:nvSpPr>
        <p:spPr>
          <a:xfrm>
            <a:off x="8412480" y="1645920"/>
            <a:ext cx="685440" cy="68544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2" name="N3 · Engenharia icon" descr="N3 · Engenharia"/>
          <p:cNvPicPr/>
          <p:nvPr/>
        </p:nvPicPr>
        <p:blipFill>
          <a:blip r:embed="rId3"/>
          <a:stretch/>
        </p:blipFill>
        <p:spPr>
          <a:xfrm>
            <a:off x="8583840" y="1817280"/>
            <a:ext cx="342720" cy="342720"/>
          </a:xfrm>
          <a:prstGeom prst="rect">
            <a:avLst/>
          </a:prstGeom>
          <a:ln w="0">
            <a:noFill/>
          </a:ln>
        </p:spPr>
      </p:pic>
      <p:sp>
        <p:nvSpPr>
          <p:cNvPr id="153" name="Text 15"/>
          <p:cNvSpPr/>
          <p:nvPr/>
        </p:nvSpPr>
        <p:spPr>
          <a:xfrm>
            <a:off x="9235440" y="1645920"/>
            <a:ext cx="2239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accent3"/>
                </a:solidFill>
                <a:latin typeface="Cambria"/>
                <a:ea typeface="Cambria"/>
              </a:rPr>
              <a:t>N3 · Engenharia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16"/>
          <p:cNvSpPr/>
          <p:nvPr/>
        </p:nvSpPr>
        <p:spPr>
          <a:xfrm>
            <a:off x="8412480" y="2514600"/>
            <a:ext cx="2971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b2631"/>
                </a:solidFill>
                <a:latin typeface="Calibri"/>
              </a:rPr>
              <a:t>Servidores, banco de dados e falhas complexas.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17"/>
          <p:cNvSpPr/>
          <p:nvPr/>
        </p:nvSpPr>
        <p:spPr>
          <a:xfrm>
            <a:off x="8412480" y="3474720"/>
            <a:ext cx="297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2631"/>
                </a:solidFill>
                <a:latin typeface="Calibri"/>
              </a:rPr>
              <a:t>2 engenheiros · 6 a 12 min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8"/>
          <p:cNvSpPr/>
          <p:nvPr/>
        </p:nvSpPr>
        <p:spPr>
          <a:xfrm>
            <a:off x="8412480" y="3931920"/>
            <a:ext cx="2971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accent6"/>
                </a:solidFill>
                <a:latin typeface="Calibri"/>
              </a:rPr>
              <a:t>20% resolvidos · 80% voltam ao N2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chegadas circle"/>
          <p:cNvSpPr/>
          <p:nvPr/>
        </p:nvSpPr>
        <p:spPr>
          <a:xfrm>
            <a:off x="548640" y="5349240"/>
            <a:ext cx="548280" cy="548280"/>
          </a:xfrm>
          <a:prstGeom prst="ellipse">
            <a:avLst/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8" name="chegadas icon" descr="chegadas"/>
          <p:cNvPicPr/>
          <p:nvPr/>
        </p:nvPicPr>
        <p:blipFill>
          <a:blip r:embed="rId4"/>
          <a:stretch/>
        </p:blipFill>
        <p:spPr>
          <a:xfrm>
            <a:off x="685800" y="548640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59" name="Text 20"/>
          <p:cNvSpPr/>
          <p:nvPr/>
        </p:nvSpPr>
        <p:spPr>
          <a:xfrm>
            <a:off x="1280160" y="5257800"/>
            <a:ext cx="10332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2631"/>
                </a:solidFill>
                <a:latin typeface="Calibri"/>
              </a:rPr>
              <a:t>Um chamado novo a cada 2 a 4 min. </a:t>
            </a:r>
            <a:r>
              <a:rPr b="0" lang="en-US" sz="1500" spc="-1" strike="noStrike">
                <a:solidFill>
                  <a:srgbClr val="1b2631"/>
                </a:solidFill>
                <a:latin typeface="Calibri"/>
              </a:rPr>
              <a:t>Cada nível tem limite de chamados abertos (N1 = 8, N2 = 5, N3 = 6): o chamado que chega a um nível lotado é perdido.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sldNum" idx="6"/>
          </p:nvPr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6b7a89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20E003B-A8CE-47B0-82D3-066365093E06}" type="slidenum">
              <a:rPr b="0" lang="en-US" sz="1000" spc="-1" strike="noStrike">
                <a:solidFill>
                  <a:srgbClr val="6b7a89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0f2a3d"/>
                </a:solidFill>
                <a:latin typeface="Cambria"/>
              </a:rPr>
              <a:t>Modelo: rede de três </a:t>
            </a:r>
            <a:r>
              <a:rPr b="1" lang="en-US" sz="3000" spc="-1" strike="noStrike">
                <a:solidFill>
                  <a:srgbClr val="0f2a3d"/>
                </a:solidFill>
                <a:latin typeface="Cambria"/>
              </a:rPr>
              <a:t>filas com dois </a:t>
            </a:r>
            <a:r>
              <a:rPr b="1" lang="en-US" sz="3000" spc="-1" strike="noStrike">
                <a:solidFill>
                  <a:srgbClr val="0f2a3d"/>
                </a:solidFill>
                <a:latin typeface="Cambria"/>
              </a:rPr>
              <a:t>retornos</a:t>
            </a:r>
            <a:endParaRPr b="0" lang="en-US" sz="30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162" name="N1_Triagem box"/>
          <p:cNvSpPr/>
          <p:nvPr/>
        </p:nvSpPr>
        <p:spPr>
          <a:xfrm>
            <a:off x="2057400" y="2788920"/>
            <a:ext cx="2468520" cy="1599840"/>
          </a:xfrm>
          <a:prstGeom prst="roundRect">
            <a:avLst>
              <a:gd name="adj" fmla="val 6857"/>
            </a:avLst>
          </a:prstGeom>
          <a:solidFill>
            <a:srgbClr val="e2f3f4"/>
          </a:solidFill>
          <a:ln w="19050">
            <a:solidFill>
              <a:srgbClr val="0e8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N1_Triagem text"/>
          <p:cNvSpPr/>
          <p:nvPr/>
        </p:nvSpPr>
        <p:spPr>
          <a:xfrm>
            <a:off x="2148840" y="2898720"/>
            <a:ext cx="2285640" cy="13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2631"/>
                </a:solidFill>
                <a:latin typeface="Calibri"/>
              </a:rPr>
              <a:t>N1_Triagem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accent1"/>
                </a:solidFill>
                <a:latin typeface="Cambria"/>
                <a:ea typeface="Cambria"/>
              </a:rPr>
              <a:t>G/G/1/8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b2631"/>
                </a:solidFill>
                <a:latin typeface="Calibri"/>
                <a:ea typeface="Cambria"/>
              </a:rPr>
              <a:t>c = 1 · K = 8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b2631"/>
                </a:solidFill>
                <a:latin typeface="Calibri"/>
                <a:ea typeface="Cambria"/>
              </a:rPr>
              <a:t>Serviço U(1; 2,5) min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N1_Triagem exit"/>
          <p:cNvSpPr/>
          <p:nvPr/>
        </p:nvSpPr>
        <p:spPr>
          <a:xfrm>
            <a:off x="2834640" y="4389120"/>
            <a:ext cx="360" cy="868680"/>
          </a:xfrm>
          <a:prstGeom prst="line">
            <a:avLst/>
          </a:prstGeom>
          <a:ln w="22225">
            <a:solidFill>
              <a:srgbClr val="0f2a3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4"/>
          <p:cNvSpPr/>
          <p:nvPr/>
        </p:nvSpPr>
        <p:spPr>
          <a:xfrm>
            <a:off x="2926080" y="461772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2a3d"/>
                </a:solidFill>
                <a:latin typeface="Calibri"/>
              </a:rPr>
              <a:t>0,60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5"/>
          <p:cNvSpPr/>
          <p:nvPr/>
        </p:nvSpPr>
        <p:spPr>
          <a:xfrm>
            <a:off x="2377440" y="53035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saída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N2_Tecnico box"/>
          <p:cNvSpPr/>
          <p:nvPr/>
        </p:nvSpPr>
        <p:spPr>
          <a:xfrm>
            <a:off x="5394960" y="2788920"/>
            <a:ext cx="2468520" cy="1599840"/>
          </a:xfrm>
          <a:prstGeom prst="roundRect">
            <a:avLst>
              <a:gd name="adj" fmla="val 6857"/>
            </a:avLst>
          </a:prstGeom>
          <a:solidFill>
            <a:srgbClr val="fceedd"/>
          </a:solidFill>
          <a:ln w="19050">
            <a:solidFill>
              <a:srgbClr val="d977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N2_Tecnico text"/>
          <p:cNvSpPr/>
          <p:nvPr/>
        </p:nvSpPr>
        <p:spPr>
          <a:xfrm>
            <a:off x="5486400" y="2898720"/>
            <a:ext cx="2285640" cy="13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2631"/>
                </a:solidFill>
                <a:latin typeface="Calibri"/>
              </a:rPr>
              <a:t>N2_Tecnico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accent2"/>
                </a:solidFill>
                <a:latin typeface="Cambria"/>
                <a:ea typeface="Cambria"/>
              </a:rPr>
              <a:t>G/G/1/5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b2631"/>
                </a:solidFill>
                <a:latin typeface="Calibri"/>
                <a:ea typeface="Cambria"/>
              </a:rPr>
              <a:t>c = 1 · K = 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b2631"/>
                </a:solidFill>
                <a:latin typeface="Calibri"/>
                <a:ea typeface="Cambria"/>
              </a:rPr>
              <a:t>Serviço U(4, 7) min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N2_Tecnico exit"/>
          <p:cNvSpPr/>
          <p:nvPr/>
        </p:nvSpPr>
        <p:spPr>
          <a:xfrm>
            <a:off x="6172200" y="4389120"/>
            <a:ext cx="360" cy="868680"/>
          </a:xfrm>
          <a:prstGeom prst="line">
            <a:avLst/>
          </a:prstGeom>
          <a:ln w="22225">
            <a:solidFill>
              <a:srgbClr val="0f2a3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9"/>
          <p:cNvSpPr/>
          <p:nvPr/>
        </p:nvSpPr>
        <p:spPr>
          <a:xfrm>
            <a:off x="6263640" y="461772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2a3d"/>
                </a:solidFill>
                <a:latin typeface="Calibri"/>
              </a:rPr>
              <a:t>0,45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10"/>
          <p:cNvSpPr/>
          <p:nvPr/>
        </p:nvSpPr>
        <p:spPr>
          <a:xfrm>
            <a:off x="5715000" y="53035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saída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N3_Engenharia box"/>
          <p:cNvSpPr/>
          <p:nvPr/>
        </p:nvSpPr>
        <p:spPr>
          <a:xfrm>
            <a:off x="8732520" y="2788920"/>
            <a:ext cx="2468520" cy="1599840"/>
          </a:xfrm>
          <a:prstGeom prst="roundRect">
            <a:avLst>
              <a:gd name="adj" fmla="val 6857"/>
            </a:avLst>
          </a:prstGeom>
          <a:solidFill>
            <a:srgbClr val="e8e9f8"/>
          </a:solidFill>
          <a:ln w="19050">
            <a:solidFill>
              <a:srgbClr val="5b5f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N3_Engenharia text"/>
          <p:cNvSpPr/>
          <p:nvPr/>
        </p:nvSpPr>
        <p:spPr>
          <a:xfrm>
            <a:off x="8823960" y="2898720"/>
            <a:ext cx="2285640" cy="13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2631"/>
                </a:solidFill>
                <a:latin typeface="Calibri"/>
              </a:rPr>
              <a:t>N3_Engenharia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accent3"/>
                </a:solidFill>
                <a:latin typeface="Cambria"/>
                <a:ea typeface="Cambria"/>
              </a:rPr>
              <a:t>G/G/2/6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b2631"/>
                </a:solidFill>
                <a:latin typeface="Calibri"/>
                <a:ea typeface="Cambria"/>
              </a:rPr>
              <a:t>c = 2 · K = 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b2631"/>
                </a:solidFill>
                <a:latin typeface="Calibri"/>
                <a:ea typeface="Cambria"/>
              </a:rPr>
              <a:t>Serviço U(6, 12) min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N3_Engenharia exit"/>
          <p:cNvSpPr/>
          <p:nvPr/>
        </p:nvSpPr>
        <p:spPr>
          <a:xfrm>
            <a:off x="9509760" y="4389120"/>
            <a:ext cx="360" cy="868680"/>
          </a:xfrm>
          <a:prstGeom prst="line">
            <a:avLst/>
          </a:prstGeom>
          <a:ln w="22225">
            <a:solidFill>
              <a:srgbClr val="0f2a3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14"/>
          <p:cNvSpPr/>
          <p:nvPr/>
        </p:nvSpPr>
        <p:spPr>
          <a:xfrm>
            <a:off x="9601200" y="461772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2a3d"/>
                </a:solidFill>
                <a:latin typeface="Calibri"/>
              </a:rPr>
              <a:t>0,20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15"/>
          <p:cNvSpPr/>
          <p:nvPr/>
        </p:nvSpPr>
        <p:spPr>
          <a:xfrm>
            <a:off x="9052560" y="53035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saída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16"/>
          <p:cNvSpPr/>
          <p:nvPr/>
        </p:nvSpPr>
        <p:spPr>
          <a:xfrm>
            <a:off x="457200" y="2930760"/>
            <a:ext cx="146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2a3d"/>
                </a:solidFill>
                <a:latin typeface="Calibri"/>
              </a:rPr>
              <a:t>Chegadas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f2a3d"/>
                </a:solidFill>
                <a:latin typeface="Calibri"/>
              </a:rPr>
              <a:t>U(2, 4) min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external arrival"/>
          <p:cNvSpPr/>
          <p:nvPr/>
        </p:nvSpPr>
        <p:spPr>
          <a:xfrm>
            <a:off x="502920" y="3588840"/>
            <a:ext cx="1554480" cy="360"/>
          </a:xfrm>
          <a:prstGeom prst="line">
            <a:avLst/>
          </a:prstGeom>
          <a:ln w="22225">
            <a:solidFill>
              <a:srgbClr val="0f2a3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N1 to N2"/>
          <p:cNvSpPr/>
          <p:nvPr/>
        </p:nvSpPr>
        <p:spPr>
          <a:xfrm>
            <a:off x="4526280" y="3588840"/>
            <a:ext cx="868680" cy="360"/>
          </a:xfrm>
          <a:prstGeom prst="line">
            <a:avLst/>
          </a:prstGeom>
          <a:ln w="22225">
            <a:solidFill>
              <a:srgbClr val="0f2a3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19"/>
          <p:cNvSpPr/>
          <p:nvPr/>
        </p:nvSpPr>
        <p:spPr>
          <a:xfrm>
            <a:off x="4526280" y="3259800"/>
            <a:ext cx="868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2a3d"/>
                </a:solidFill>
                <a:latin typeface="Calibri"/>
              </a:rPr>
              <a:t>0,40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N2 to N3"/>
          <p:cNvSpPr/>
          <p:nvPr/>
        </p:nvSpPr>
        <p:spPr>
          <a:xfrm>
            <a:off x="7863840" y="3588840"/>
            <a:ext cx="868680" cy="360"/>
          </a:xfrm>
          <a:prstGeom prst="line">
            <a:avLst/>
          </a:prstGeom>
          <a:ln w="22225">
            <a:solidFill>
              <a:srgbClr val="0f2a3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21"/>
          <p:cNvSpPr/>
          <p:nvPr/>
        </p:nvSpPr>
        <p:spPr>
          <a:xfrm>
            <a:off x="7863840" y="3259800"/>
            <a:ext cx="868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2a3d"/>
                </a:solidFill>
                <a:latin typeface="Calibri"/>
              </a:rPr>
              <a:t>0,25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N2 to N1 up"/>
          <p:cNvSpPr/>
          <p:nvPr/>
        </p:nvSpPr>
        <p:spPr>
          <a:xfrm flipV="1">
            <a:off x="5943600" y="1965960"/>
            <a:ext cx="360" cy="822960"/>
          </a:xfrm>
          <a:prstGeom prst="line">
            <a:avLst/>
          </a:prstGeom>
          <a:ln w="22225">
            <a:solidFill>
              <a:srgbClr val="0f2a3d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N2 to N1 across"/>
          <p:cNvSpPr/>
          <p:nvPr/>
        </p:nvSpPr>
        <p:spPr>
          <a:xfrm flipH="1">
            <a:off x="3291840" y="1965960"/>
            <a:ext cx="2651760" cy="360"/>
          </a:xfrm>
          <a:prstGeom prst="line">
            <a:avLst/>
          </a:prstGeom>
          <a:ln w="22225">
            <a:solidFill>
              <a:srgbClr val="0f2a3d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N2 to N1 down"/>
          <p:cNvSpPr/>
          <p:nvPr/>
        </p:nvSpPr>
        <p:spPr>
          <a:xfrm>
            <a:off x="3291840" y="1965960"/>
            <a:ext cx="360" cy="822960"/>
          </a:xfrm>
          <a:prstGeom prst="line">
            <a:avLst/>
          </a:prstGeom>
          <a:ln w="22225">
            <a:solidFill>
              <a:srgbClr val="0f2a3d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25"/>
          <p:cNvSpPr/>
          <p:nvPr/>
        </p:nvSpPr>
        <p:spPr>
          <a:xfrm>
            <a:off x="3291840" y="161856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2a3d"/>
                </a:solidFill>
                <a:latin typeface="Calibri"/>
              </a:rPr>
              <a:t>0,30 (retorno)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N3 to N2 up"/>
          <p:cNvSpPr/>
          <p:nvPr/>
        </p:nvSpPr>
        <p:spPr>
          <a:xfrm flipV="1">
            <a:off x="9966960" y="1965960"/>
            <a:ext cx="360" cy="822960"/>
          </a:xfrm>
          <a:prstGeom prst="line">
            <a:avLst/>
          </a:prstGeom>
          <a:ln w="22225">
            <a:solidFill>
              <a:srgbClr val="0f2a3d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N3 to N2 across"/>
          <p:cNvSpPr/>
          <p:nvPr/>
        </p:nvSpPr>
        <p:spPr>
          <a:xfrm flipH="1">
            <a:off x="7315200" y="1965960"/>
            <a:ext cx="2651760" cy="360"/>
          </a:xfrm>
          <a:prstGeom prst="line">
            <a:avLst/>
          </a:prstGeom>
          <a:ln w="22225">
            <a:solidFill>
              <a:srgbClr val="0f2a3d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N3 to N2 down"/>
          <p:cNvSpPr/>
          <p:nvPr/>
        </p:nvSpPr>
        <p:spPr>
          <a:xfrm>
            <a:off x="7315200" y="1965960"/>
            <a:ext cx="360" cy="822960"/>
          </a:xfrm>
          <a:prstGeom prst="line">
            <a:avLst/>
          </a:prstGeom>
          <a:ln w="22225">
            <a:solidFill>
              <a:srgbClr val="0f2a3d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29"/>
          <p:cNvSpPr/>
          <p:nvPr/>
        </p:nvSpPr>
        <p:spPr>
          <a:xfrm>
            <a:off x="7315200" y="161856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2a3d"/>
                </a:solidFill>
                <a:latin typeface="Calibri"/>
              </a:rPr>
              <a:t>0,80 (retorno)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30"/>
          <p:cNvSpPr/>
          <p:nvPr/>
        </p:nvSpPr>
        <p:spPr>
          <a:xfrm>
            <a:off x="548640" y="571500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accent6"/>
                </a:solidFill>
                <a:latin typeface="Calibri"/>
              </a:rPr>
              <a:t>Tempos em minutos · G/G/c/K: chegadas e serviço com distribuição genérica (uniforme), c servidores, capacidade K · tracejado = retorno · 100.000 aleatórios por execução, média de 5 sementes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sldNum" idx="7"/>
          </p:nvPr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6b7a89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A843DB4-2B21-4E2E-973A-6F0BF89B91A6}" type="slidenum">
              <a:rPr b="0" lang="en-US" sz="1000" spc="-1" strike="noStrike">
                <a:solidFill>
                  <a:srgbClr val="6b7a89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0f2a3d"/>
                </a:solidFill>
                <a:latin typeface="Cambria"/>
              </a:rPr>
              <a:t>Antes de simular: o N2 recebe mais do que atende</a:t>
            </a:r>
            <a:endParaRPr b="0" lang="en-US" sz="30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194" name="equations card"/>
          <p:cNvSpPr/>
          <p:nvPr/>
        </p:nvSpPr>
        <p:spPr>
          <a:xfrm>
            <a:off x="548640" y="1371600"/>
            <a:ext cx="4205880" cy="448020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2"/>
          <p:cNvSpPr/>
          <p:nvPr/>
        </p:nvSpPr>
        <p:spPr>
          <a:xfrm>
            <a:off x="822960" y="16002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f2a3d"/>
                </a:solidFill>
                <a:latin typeface="Cambria"/>
                <a:ea typeface="Cambria"/>
              </a:rPr>
              <a:t>Equações de tráfego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3"/>
          <p:cNvSpPr/>
          <p:nvPr/>
        </p:nvSpPr>
        <p:spPr>
          <a:xfrm>
            <a:off x="822960" y="2148840"/>
            <a:ext cx="36572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1b2631"/>
                </a:solidFill>
                <a:latin typeface="Courier New"/>
                <a:ea typeface="Courier New"/>
              </a:rPr>
              <a:t>λ0 = 1/3 cliente/min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1b2631"/>
                </a:solidFill>
                <a:latin typeface="Courier New"/>
                <a:ea typeface="Courier New"/>
              </a:rPr>
              <a:t>λ1 = λ0 + 0,30·λ2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1b2631"/>
                </a:solidFill>
                <a:latin typeface="Courier New"/>
                <a:ea typeface="Courier New"/>
              </a:rPr>
              <a:t>λ2 = 0,40·λ1 + 0,80·λ3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1b2631"/>
                </a:solidFill>
                <a:latin typeface="Courier New"/>
                <a:ea typeface="Courier New"/>
              </a:rPr>
              <a:t>λ3 = 0,25·λ2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4"/>
          <p:cNvSpPr/>
          <p:nvPr/>
        </p:nvSpPr>
        <p:spPr>
          <a:xfrm>
            <a:off x="822960" y="38862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b2631"/>
                </a:solidFill>
                <a:latin typeface="Courier New"/>
                <a:ea typeface="Courier New"/>
              </a:rPr>
              <a:t>ρ = λ · E[S] / c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5"/>
          <p:cNvSpPr/>
          <p:nvPr/>
        </p:nvSpPr>
        <p:spPr>
          <a:xfrm>
            <a:off x="822960" y="4434840"/>
            <a:ext cx="3657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accent6"/>
                </a:solidFill>
                <a:latin typeface="Calibri"/>
              </a:rPr>
              <a:t>λ1 = 0,392 · λ2 = 0,196 · λ3 = 0,049 cliente/min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6"/>
          <p:cNvSpPr/>
          <p:nvPr/>
        </p:nvSpPr>
        <p:spPr>
          <a:xfrm>
            <a:off x="5394960" y="169164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accent1"/>
                </a:solidFill>
                <a:latin typeface="Calibri"/>
              </a:rPr>
              <a:t>N1_Triagem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7"/>
          <p:cNvSpPr/>
          <p:nvPr/>
        </p:nvSpPr>
        <p:spPr>
          <a:xfrm>
            <a:off x="5394960" y="256032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accent6"/>
                </a:solidFill>
                <a:latin typeface="Calibri"/>
              </a:rPr>
              <a:t>λ 0,392 × 1,75 min / 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N1_Triagem track"/>
          <p:cNvSpPr/>
          <p:nvPr/>
        </p:nvSpPr>
        <p:spPr>
          <a:xfrm>
            <a:off x="5394960" y="2103120"/>
            <a:ext cx="5486040" cy="41112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N1_Triagem bar"/>
          <p:cNvSpPr/>
          <p:nvPr/>
        </p:nvSpPr>
        <p:spPr>
          <a:xfrm>
            <a:off x="5394960" y="2103120"/>
            <a:ext cx="3010680" cy="4111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10"/>
          <p:cNvSpPr/>
          <p:nvPr/>
        </p:nvSpPr>
        <p:spPr>
          <a:xfrm>
            <a:off x="8497440" y="2103120"/>
            <a:ext cx="1188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2631"/>
                </a:solidFill>
                <a:latin typeface="Calibri"/>
              </a:rPr>
              <a:t>ρ = 0,686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11"/>
          <p:cNvSpPr/>
          <p:nvPr/>
        </p:nvSpPr>
        <p:spPr>
          <a:xfrm>
            <a:off x="5394960" y="301752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accent2"/>
                </a:solidFill>
                <a:latin typeface="Calibri"/>
              </a:rPr>
              <a:t>N2_Tecnico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12"/>
          <p:cNvSpPr/>
          <p:nvPr/>
        </p:nvSpPr>
        <p:spPr>
          <a:xfrm>
            <a:off x="5394960" y="388620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accent6"/>
                </a:solidFill>
                <a:latin typeface="Calibri"/>
              </a:rPr>
              <a:t>λ 0,196 × 5,5 min / 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N2_Tecnico track"/>
          <p:cNvSpPr/>
          <p:nvPr/>
        </p:nvSpPr>
        <p:spPr>
          <a:xfrm>
            <a:off x="5394960" y="3429000"/>
            <a:ext cx="5486040" cy="41112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N2_Tecnico bar"/>
          <p:cNvSpPr/>
          <p:nvPr/>
        </p:nvSpPr>
        <p:spPr>
          <a:xfrm>
            <a:off x="5394960" y="3429000"/>
            <a:ext cx="4731120" cy="4111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15"/>
          <p:cNvSpPr/>
          <p:nvPr/>
        </p:nvSpPr>
        <p:spPr>
          <a:xfrm>
            <a:off x="10217880" y="3429000"/>
            <a:ext cx="1188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5"/>
                </a:solidFill>
                <a:latin typeface="Calibri"/>
              </a:rPr>
              <a:t>ρ = 1,078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16"/>
          <p:cNvSpPr/>
          <p:nvPr/>
        </p:nvSpPr>
        <p:spPr>
          <a:xfrm>
            <a:off x="5394960" y="434340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accent3"/>
                </a:solidFill>
                <a:latin typeface="Calibri"/>
              </a:rPr>
              <a:t>N3_Engenharia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17"/>
          <p:cNvSpPr/>
          <p:nvPr/>
        </p:nvSpPr>
        <p:spPr>
          <a:xfrm>
            <a:off x="5394960" y="521208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accent6"/>
                </a:solidFill>
                <a:latin typeface="Calibri"/>
              </a:rPr>
              <a:t>λ 0,049 × 9 min / 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N3_Engenharia track"/>
          <p:cNvSpPr/>
          <p:nvPr/>
        </p:nvSpPr>
        <p:spPr>
          <a:xfrm>
            <a:off x="5394960" y="4754880"/>
            <a:ext cx="5486040" cy="41112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N3_Engenharia bar"/>
          <p:cNvSpPr/>
          <p:nvPr/>
        </p:nvSpPr>
        <p:spPr>
          <a:xfrm>
            <a:off x="5394960" y="4754880"/>
            <a:ext cx="969480" cy="41112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20"/>
          <p:cNvSpPr/>
          <p:nvPr/>
        </p:nvSpPr>
        <p:spPr>
          <a:xfrm>
            <a:off x="6456240" y="4754880"/>
            <a:ext cx="1188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2631"/>
                </a:solidFill>
                <a:latin typeface="Calibri"/>
              </a:rPr>
              <a:t>ρ = 0,221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rho one line"/>
          <p:cNvSpPr/>
          <p:nvPr/>
        </p:nvSpPr>
        <p:spPr>
          <a:xfrm>
            <a:off x="9784080" y="1463040"/>
            <a:ext cx="360" cy="4023360"/>
          </a:xfrm>
          <a:prstGeom prst="line">
            <a:avLst/>
          </a:prstGeom>
          <a:ln w="22225">
            <a:solidFill>
              <a:srgbClr val="c0392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22"/>
          <p:cNvSpPr/>
          <p:nvPr/>
        </p:nvSpPr>
        <p:spPr>
          <a:xfrm>
            <a:off x="8961120" y="553212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chemeClr val="accent5"/>
                </a:solidFill>
                <a:latin typeface="Calibri"/>
              </a:rPr>
              <a:t>ρ = 1 (saturação)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sldNum" idx="8"/>
          </p:nvPr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6b7a89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3038845-9422-4A6E-8F56-14B688C9A9A7}" type="slidenum">
              <a:rPr b="0" lang="en-US" sz="1000" spc="-1" strike="noStrike">
                <a:solidFill>
                  <a:srgbClr val="6b7a89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0f2a3d"/>
                </a:solidFill>
                <a:latin typeface="Cambria"/>
              </a:rPr>
              <a:t>Probabilidades dos estados: o N2 vive cheio</a:t>
            </a:r>
            <a:endParaRPr b="0" lang="en-US" sz="3000" spc="-1" strike="noStrike">
              <a:solidFill>
                <a:srgbClr val="1b2631"/>
              </a:solidFill>
              <a:latin typeface="Calibri"/>
            </a:endParaRPr>
          </a:p>
        </p:txBody>
      </p:sp>
      <p:graphicFrame>
        <p:nvGraphicFramePr>
          <p:cNvPr id="218" name="Chart 0"/>
          <p:cNvGraphicFramePr/>
          <p:nvPr/>
        </p:nvGraphicFramePr>
        <p:xfrm>
          <a:off x="548640" y="1280160"/>
          <a:ext cx="3520080" cy="356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9" name="Text 1"/>
          <p:cNvSpPr/>
          <p:nvPr/>
        </p:nvSpPr>
        <p:spPr>
          <a:xfrm>
            <a:off x="640080" y="5029200"/>
            <a:ext cx="3337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b2631"/>
                </a:solidFill>
                <a:latin typeface="Calibri"/>
              </a:rPr>
              <a:t>Vazia ou com 1 chamado em 91% do tempo. Estados 4 a 8: &lt; 0,01%.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20" name="Chart 1"/>
          <p:cNvGraphicFramePr/>
          <p:nvPr/>
        </p:nvGraphicFramePr>
        <p:xfrm>
          <a:off x="4343400" y="1280160"/>
          <a:ext cx="3520080" cy="356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1" name="Text 2"/>
          <p:cNvSpPr/>
          <p:nvPr/>
        </p:nvSpPr>
        <p:spPr>
          <a:xfrm>
            <a:off x="4434840" y="5029200"/>
            <a:ext cx="3337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2"/>
                </a:solidFill>
                <a:latin typeface="Calibri"/>
              </a:rPr>
              <a:t>Cheia (estado 5) em 13,2% do tempo: quem chega nesse momento é perdido.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22" name="Chart 2"/>
          <p:cNvGraphicFramePr/>
          <p:nvPr/>
        </p:nvGraphicFramePr>
        <p:xfrm>
          <a:off x="8138160" y="1280160"/>
          <a:ext cx="3520080" cy="356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3" name="Text 3"/>
          <p:cNvSpPr/>
          <p:nvPr/>
        </p:nvSpPr>
        <p:spPr>
          <a:xfrm>
            <a:off x="8229600" y="5029200"/>
            <a:ext cx="3337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b2631"/>
                </a:solidFill>
                <a:latin typeface="Calibri"/>
              </a:rPr>
              <a:t>Vazia em 65,5% do tempo. Estados 4 a 6: nunca ocorreram.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sldNum" idx="9"/>
          </p:nvPr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6b7a89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E817757-5A6B-47FF-B09C-EC05D7A2752F}" type="slidenum">
              <a:rPr b="0" lang="en-US" sz="1000" spc="-1" strike="noStrike">
                <a:solidFill>
                  <a:srgbClr val="6b7a89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0f2a3d"/>
                </a:solidFill>
                <a:latin typeface="Cambria"/>
              </a:rPr>
              <a:t>Índices de desempenho do modelo atual</a:t>
            </a:r>
            <a:endParaRPr b="0" lang="en-US" sz="3000" spc="-1" strike="noStrike">
              <a:solidFill>
                <a:srgbClr val="1b2631"/>
              </a:solidFill>
              <a:latin typeface="Calibri"/>
            </a:endParaRPr>
          </a:p>
        </p:txBody>
      </p:sp>
      <p:graphicFrame>
        <p:nvGraphicFramePr>
          <p:cNvPr id="226" name="Table 0"/>
          <p:cNvGraphicFramePr/>
          <p:nvPr/>
        </p:nvGraphicFramePr>
        <p:xfrm>
          <a:off x="548640" y="1325880"/>
          <a:ext cx="11063880" cy="1828800"/>
        </p:xfrm>
        <a:graphic>
          <a:graphicData uri="http://schemas.openxmlformats.org/drawingml/2006/table">
            <a:tbl>
              <a:tblPr/>
              <a:tblGrid>
                <a:gridCol w="3017520"/>
                <a:gridCol w="1005840"/>
                <a:gridCol w="1371600"/>
                <a:gridCol w="960120"/>
                <a:gridCol w="960120"/>
                <a:gridCol w="1188720"/>
                <a:gridCol w="1280160"/>
                <a:gridCol w="1280160"/>
              </a:tblGrid>
              <a:tr h="457200">
                <a:tc>
                  <a:txBody>
                    <a:bodyPr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Fila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U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X (cli/min)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Nq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W (min)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Wq (min)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Perdas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</a:tr>
              <a:tr h="457200">
                <a:tc>
                  <a:txBody>
                    <a:bodyPr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N1_Triagem  G/G/1/8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67,3%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0,384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0,77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0,09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2,0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0,24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0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N2_Tecnico  G/G/1/5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ceedd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d9771a"/>
                          </a:solidFill>
                          <a:latin typeface="Calibri"/>
                        </a:rPr>
                        <a:t>93,5%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ceedd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0,170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ceedd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2,83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ceedd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1,89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ceedd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d9771a"/>
                          </a:solidFill>
                          <a:latin typeface="Calibri"/>
                        </a:rPr>
                        <a:t>16,6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ceedd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d9771a"/>
                          </a:solidFill>
                          <a:latin typeface="Calibri"/>
                        </a:rPr>
                        <a:t>11,1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ceedd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c0392b"/>
                          </a:solidFill>
                          <a:latin typeface="Calibri"/>
                        </a:rPr>
                        <a:t>1.142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ceedd"/>
                    </a:solidFill>
                  </a:tcPr>
                </a:tc>
              </a:tr>
              <a:tr h="457200">
                <a:tc>
                  <a:txBody>
                    <a:bodyPr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N3_Engenharia  G/G/2/6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19,0%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0,042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0,38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0,00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9,0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0,01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0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7" name="Text 1"/>
          <p:cNvSpPr/>
          <p:nvPr/>
        </p:nvSpPr>
        <p:spPr>
          <a:xfrm>
            <a:off x="548640" y="3291840"/>
            <a:ext cx="11063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accent6"/>
                </a:solidFill>
                <a:latin typeface="Calibri"/>
              </a:rPr>
              <a:t>U = utilização · X = vazão · N = população · Nq = em espera · W = tempo de resposta (Little: W = N / X) · perdas por execução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2"/>
          <p:cNvSpPr/>
          <p:nvPr/>
        </p:nvSpPr>
        <p:spPr>
          <a:xfrm>
            <a:off x="548640" y="379476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f2a3d"/>
                </a:solidFill>
                <a:latin typeface="Cambria"/>
                <a:ea typeface="Cambria"/>
              </a:rPr>
              <a:t>Rede completa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ile dos chamados abertos são perdidos"/>
          <p:cNvSpPr/>
          <p:nvPr/>
        </p:nvSpPr>
        <p:spPr>
          <a:xfrm>
            <a:off x="548640" y="4297680"/>
            <a:ext cx="2605680" cy="1691280"/>
          </a:xfrm>
          <a:prstGeom prst="roundRect">
            <a:avLst>
              <a:gd name="adj" fmla="val 5405"/>
            </a:avLst>
          </a:prstGeom>
          <a:solidFill>
            <a:srgbClr val="fbe9e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4"/>
          <p:cNvSpPr/>
          <p:nvPr/>
        </p:nvSpPr>
        <p:spPr>
          <a:xfrm>
            <a:off x="731520" y="4407480"/>
            <a:ext cx="2239920" cy="87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accent5"/>
                </a:solidFill>
                <a:latin typeface="Cambria"/>
                <a:ea typeface="Cambria"/>
              </a:rPr>
              <a:t>5,23%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5"/>
          <p:cNvSpPr/>
          <p:nvPr/>
        </p:nvSpPr>
        <p:spPr>
          <a:xfrm>
            <a:off x="731520" y="5312520"/>
            <a:ext cx="223992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b2631"/>
                </a:solidFill>
                <a:latin typeface="Calibri"/>
              </a:rPr>
              <a:t>dos chamados abertos são perdidos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ile chamados na central, em média"/>
          <p:cNvSpPr/>
          <p:nvPr/>
        </p:nvSpPr>
        <p:spPr>
          <a:xfrm>
            <a:off x="3360600" y="4297680"/>
            <a:ext cx="2605680" cy="1691280"/>
          </a:xfrm>
          <a:prstGeom prst="roundRect">
            <a:avLst>
              <a:gd name="adj" fmla="val 5405"/>
            </a:avLst>
          </a:prstGeom>
          <a:solidFill>
            <a:srgbClr val="e2f3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7"/>
          <p:cNvSpPr/>
          <p:nvPr/>
        </p:nvSpPr>
        <p:spPr>
          <a:xfrm>
            <a:off x="3543480" y="4407480"/>
            <a:ext cx="2239920" cy="87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f2a3d"/>
                </a:solidFill>
                <a:latin typeface="Cambria"/>
                <a:ea typeface="Cambria"/>
              </a:rPr>
              <a:t>3,97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8"/>
          <p:cNvSpPr/>
          <p:nvPr/>
        </p:nvSpPr>
        <p:spPr>
          <a:xfrm>
            <a:off x="3543480" y="5312520"/>
            <a:ext cx="223992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b2631"/>
                </a:solidFill>
                <a:latin typeface="Calibri"/>
              </a:rPr>
              <a:t>chamados na central, em média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ile chamados resolvidos por minuto"/>
          <p:cNvSpPr/>
          <p:nvPr/>
        </p:nvSpPr>
        <p:spPr>
          <a:xfrm>
            <a:off x="6172200" y="4297680"/>
            <a:ext cx="2605680" cy="1691280"/>
          </a:xfrm>
          <a:prstGeom prst="roundRect">
            <a:avLst>
              <a:gd name="adj" fmla="val 5405"/>
            </a:avLst>
          </a:prstGeom>
          <a:solidFill>
            <a:srgbClr val="e2f3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10"/>
          <p:cNvSpPr/>
          <p:nvPr/>
        </p:nvSpPr>
        <p:spPr>
          <a:xfrm>
            <a:off x="6355080" y="4407480"/>
            <a:ext cx="2239920" cy="87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f2a3d"/>
                </a:solidFill>
                <a:latin typeface="Cambria"/>
                <a:ea typeface="Cambria"/>
              </a:rPr>
              <a:t>0,316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11"/>
          <p:cNvSpPr/>
          <p:nvPr/>
        </p:nvSpPr>
        <p:spPr>
          <a:xfrm>
            <a:off x="6355080" y="5312520"/>
            <a:ext cx="223992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b2631"/>
                </a:solidFill>
                <a:latin typeface="Calibri"/>
              </a:rPr>
              <a:t>chamados resolvidos por minuto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ile tempo médio de um chamado na central"/>
          <p:cNvSpPr/>
          <p:nvPr/>
        </p:nvSpPr>
        <p:spPr>
          <a:xfrm>
            <a:off x="8984160" y="4297680"/>
            <a:ext cx="2605680" cy="1691280"/>
          </a:xfrm>
          <a:prstGeom prst="roundRect">
            <a:avLst>
              <a:gd name="adj" fmla="val 5405"/>
            </a:avLst>
          </a:prstGeom>
          <a:solidFill>
            <a:srgbClr val="e2f3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13"/>
          <p:cNvSpPr/>
          <p:nvPr/>
        </p:nvSpPr>
        <p:spPr>
          <a:xfrm>
            <a:off x="9167040" y="4407480"/>
            <a:ext cx="2239920" cy="87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f2a3d"/>
                </a:solidFill>
                <a:latin typeface="Cambria"/>
                <a:ea typeface="Cambria"/>
              </a:rPr>
              <a:t>11,9 min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14"/>
          <p:cNvSpPr/>
          <p:nvPr/>
        </p:nvSpPr>
        <p:spPr>
          <a:xfrm>
            <a:off x="9167040" y="5312520"/>
            <a:ext cx="223992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b2631"/>
                </a:solidFill>
                <a:latin typeface="Calibri"/>
              </a:rPr>
              <a:t>tempo médio de um chamado na central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 type="sldNum" idx="10"/>
          </p:nvPr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6b7a89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333BD81-45B8-4573-A040-6AE0E295C1DC}" type="slidenum">
              <a:rPr b="0" lang="en-US" sz="1000" spc="-1" strike="noStrike">
                <a:solidFill>
                  <a:srgbClr val="6b7a89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0f2a3d"/>
                </a:solidFill>
                <a:latin typeface="Cambria"/>
              </a:rPr>
              <a:t>Gargalo: N2 </a:t>
            </a:r>
            <a:r>
              <a:rPr b="1" lang="en-US" sz="3000" spc="-1" strike="noStrike">
                <a:solidFill>
                  <a:srgbClr val="0f2a3d"/>
                </a:solidFill>
                <a:latin typeface="Cambria"/>
              </a:rPr>
              <a:t>saturado </a:t>
            </a:r>
            <a:r>
              <a:rPr b="1" lang="en-US" sz="3000" spc="-1" strike="noStrike">
                <a:solidFill>
                  <a:srgbClr val="0f2a3d"/>
                </a:solidFill>
                <a:latin typeface="Cambria"/>
              </a:rPr>
              <a:t>enquanto o </a:t>
            </a:r>
            <a:r>
              <a:rPr b="1" lang="en-US" sz="3000" spc="-1" strike="noStrike">
                <a:solidFill>
                  <a:srgbClr val="0f2a3d"/>
                </a:solidFill>
                <a:latin typeface="Cambria"/>
              </a:rPr>
              <a:t>N3 fica </a:t>
            </a:r>
            <a:r>
              <a:rPr b="1" lang="en-US" sz="3000" spc="-1" strike="noStrike">
                <a:solidFill>
                  <a:srgbClr val="0f2a3d"/>
                </a:solidFill>
                <a:latin typeface="Cambria"/>
              </a:rPr>
              <a:t>ocioso</a:t>
            </a:r>
            <a:endParaRPr b="0" lang="en-US" sz="30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243" name="gargalo circle"/>
          <p:cNvSpPr/>
          <p:nvPr/>
        </p:nvSpPr>
        <p:spPr>
          <a:xfrm>
            <a:off x="548640" y="1371600"/>
            <a:ext cx="685440" cy="68544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4" name="gargalo icon" descr="gargalo"/>
          <p:cNvPicPr/>
          <p:nvPr/>
        </p:nvPicPr>
        <p:blipFill>
          <a:blip r:embed="rId1"/>
          <a:stretch/>
        </p:blipFill>
        <p:spPr>
          <a:xfrm>
            <a:off x="720000" y="1542960"/>
            <a:ext cx="342720" cy="342720"/>
          </a:xfrm>
          <a:prstGeom prst="rect">
            <a:avLst/>
          </a:prstGeom>
          <a:ln w="0">
            <a:noFill/>
          </a:ln>
        </p:spPr>
      </p:pic>
      <p:sp>
        <p:nvSpPr>
          <p:cNvPr id="245" name="Text 2"/>
          <p:cNvSpPr/>
          <p:nvPr/>
        </p:nvSpPr>
        <p:spPr>
          <a:xfrm>
            <a:off x="1417320" y="1371600"/>
            <a:ext cx="5486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accent2"/>
                </a:solidFill>
                <a:latin typeface="Cambria"/>
                <a:ea typeface="Cambria"/>
              </a:rPr>
              <a:t>N2_Tecnico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3"/>
          <p:cNvSpPr/>
          <p:nvPr/>
        </p:nvSpPr>
        <p:spPr>
          <a:xfrm>
            <a:off x="548640" y="2331720"/>
            <a:ext cx="3017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chemeClr val="accent2"/>
                </a:solidFill>
                <a:latin typeface="Cambria"/>
                <a:ea typeface="Cambria"/>
              </a:rPr>
              <a:t>93,5%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4"/>
          <p:cNvSpPr/>
          <p:nvPr/>
        </p:nvSpPr>
        <p:spPr>
          <a:xfrm>
            <a:off x="3657600" y="2331720"/>
            <a:ext cx="32914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b2631"/>
                </a:solidFill>
                <a:latin typeface="Calibri"/>
              </a:rPr>
              <a:t>do tempo o técnico está ocupado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5"/>
          <p:cNvSpPr/>
          <p:nvPr/>
        </p:nvSpPr>
        <p:spPr>
          <a:xfrm>
            <a:off x="548640" y="3520440"/>
            <a:ext cx="3017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chemeClr val="accent2"/>
                </a:solidFill>
                <a:latin typeface="Cambria"/>
                <a:ea typeface="Cambria"/>
              </a:rPr>
              <a:t>11,1 min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6"/>
          <p:cNvSpPr/>
          <p:nvPr/>
        </p:nvSpPr>
        <p:spPr>
          <a:xfrm>
            <a:off x="3657600" y="3520440"/>
            <a:ext cx="32914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b2631"/>
                </a:solidFill>
                <a:latin typeface="Calibri"/>
              </a:rPr>
              <a:t>de espera na fila, o dobro do próprio atendimento (5,5 min)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7"/>
          <p:cNvSpPr/>
          <p:nvPr/>
        </p:nvSpPr>
        <p:spPr>
          <a:xfrm>
            <a:off x="548640" y="4709160"/>
            <a:ext cx="3017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chemeClr val="accent2"/>
                </a:solidFill>
                <a:latin typeface="Cambria"/>
                <a:ea typeface="Cambria"/>
              </a:rPr>
              <a:t>9,3%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8"/>
          <p:cNvSpPr/>
          <p:nvPr/>
        </p:nvSpPr>
        <p:spPr>
          <a:xfrm>
            <a:off x="3657600" y="4709160"/>
            <a:ext cx="32914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b2631"/>
                </a:solidFill>
                <a:latin typeface="Calibri"/>
              </a:rPr>
              <a:t>dos chamados que chegam ao N2 são perdidos (1.142 por execução)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N3 idle card"/>
          <p:cNvSpPr/>
          <p:nvPr/>
        </p:nvSpPr>
        <p:spPr>
          <a:xfrm>
            <a:off x="7315200" y="1371600"/>
            <a:ext cx="4297320" cy="4571640"/>
          </a:xfrm>
          <a:prstGeom prst="roundRect">
            <a:avLst>
              <a:gd name="adj" fmla="val 2553"/>
            </a:avLst>
          </a:prstGeom>
          <a:solidFill>
            <a:srgbClr val="e8e9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N3 circle"/>
          <p:cNvSpPr/>
          <p:nvPr/>
        </p:nvSpPr>
        <p:spPr>
          <a:xfrm>
            <a:off x="7589520" y="1645920"/>
            <a:ext cx="685440" cy="68544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4" name="N3 icon" descr="N3"/>
          <p:cNvPicPr/>
          <p:nvPr/>
        </p:nvPicPr>
        <p:blipFill>
          <a:blip r:embed="rId2"/>
          <a:stretch/>
        </p:blipFill>
        <p:spPr>
          <a:xfrm>
            <a:off x="7760880" y="1817280"/>
            <a:ext cx="342720" cy="342720"/>
          </a:xfrm>
          <a:prstGeom prst="rect">
            <a:avLst/>
          </a:prstGeom>
          <a:ln w="0">
            <a:noFill/>
          </a:ln>
        </p:spPr>
      </p:pic>
      <p:sp>
        <p:nvSpPr>
          <p:cNvPr id="255" name="Text 11"/>
          <p:cNvSpPr/>
          <p:nvPr/>
        </p:nvSpPr>
        <p:spPr>
          <a:xfrm>
            <a:off x="8458200" y="164592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accent3"/>
                </a:solidFill>
                <a:latin typeface="Cambria"/>
                <a:ea typeface="Cambria"/>
              </a:rPr>
              <a:t>N3_Engenharia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12"/>
          <p:cNvSpPr/>
          <p:nvPr/>
        </p:nvSpPr>
        <p:spPr>
          <a:xfrm>
            <a:off x="7589520" y="2560320"/>
            <a:ext cx="3748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5400" spc="-1" strike="noStrike">
                <a:solidFill>
                  <a:schemeClr val="accent3"/>
                </a:solidFill>
                <a:latin typeface="Cambria"/>
                <a:ea typeface="Cambria"/>
              </a:rPr>
              <a:t>19%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13"/>
          <p:cNvSpPr/>
          <p:nvPr/>
        </p:nvSpPr>
        <p:spPr>
          <a:xfrm>
            <a:off x="7589520" y="3566160"/>
            <a:ext cx="3748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b2631"/>
                </a:solidFill>
                <a:latin typeface="Calibri"/>
              </a:rPr>
              <a:t>de utilização: os 2 engenheiros ficam parados 81% do tempo e quase não há espera (Wq = 0,01 min).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14"/>
          <p:cNvSpPr/>
          <p:nvPr/>
        </p:nvSpPr>
        <p:spPr>
          <a:xfrm>
            <a:off x="7589520" y="4800600"/>
            <a:ext cx="3748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f2a3d"/>
                </a:solidFill>
                <a:latin typeface="Calibri"/>
              </a:rPr>
              <a:t>Os retornos agravam: 80% dos chamados do N3 voltam para o N2.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sldNum" idx="11"/>
          </p:nvPr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6b7a89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BA22E34-865B-4EE7-9788-EC609841AFE6}" type="slidenum">
              <a:rPr b="0" lang="en-US" sz="1000" spc="-1" strike="noStrike">
                <a:solidFill>
                  <a:srgbClr val="6b7a89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0f2a3d"/>
                </a:solidFill>
                <a:latin typeface="Cambria"/>
              </a:rPr>
              <a:t>Proposta: um engenheiro do N3 passa ao N2</a:t>
            </a:r>
            <a:endParaRPr b="0" lang="en-US" sz="30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261" name="N1_Triagem box"/>
          <p:cNvSpPr/>
          <p:nvPr/>
        </p:nvSpPr>
        <p:spPr>
          <a:xfrm>
            <a:off x="2057400" y="2788920"/>
            <a:ext cx="2468520" cy="1599840"/>
          </a:xfrm>
          <a:prstGeom prst="roundRect">
            <a:avLst>
              <a:gd name="adj" fmla="val 6857"/>
            </a:avLst>
          </a:prstGeom>
          <a:solidFill>
            <a:srgbClr val="e2f3f4"/>
          </a:solidFill>
          <a:ln w="19050">
            <a:solidFill>
              <a:srgbClr val="0e8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N1_Triagem text"/>
          <p:cNvSpPr/>
          <p:nvPr/>
        </p:nvSpPr>
        <p:spPr>
          <a:xfrm>
            <a:off x="2148840" y="2898720"/>
            <a:ext cx="2285640" cy="13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2631"/>
                </a:solidFill>
                <a:latin typeface="Calibri"/>
              </a:rPr>
              <a:t>N1_Triagem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accent1"/>
                </a:solidFill>
                <a:latin typeface="Cambria"/>
                <a:ea typeface="Cambria"/>
              </a:rPr>
              <a:t>G/G/1/8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b2631"/>
                </a:solidFill>
                <a:latin typeface="Calibri"/>
                <a:ea typeface="Cambria"/>
              </a:rPr>
              <a:t>c = 1 · K = 8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b2631"/>
                </a:solidFill>
                <a:latin typeface="Calibri"/>
                <a:ea typeface="Cambria"/>
              </a:rPr>
              <a:t>Serviço U(1; 2,5) min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N1_Triagem exit"/>
          <p:cNvSpPr/>
          <p:nvPr/>
        </p:nvSpPr>
        <p:spPr>
          <a:xfrm>
            <a:off x="2834640" y="4389120"/>
            <a:ext cx="360" cy="868680"/>
          </a:xfrm>
          <a:prstGeom prst="line">
            <a:avLst/>
          </a:prstGeom>
          <a:ln w="22225">
            <a:solidFill>
              <a:srgbClr val="0f2a3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4"/>
          <p:cNvSpPr/>
          <p:nvPr/>
        </p:nvSpPr>
        <p:spPr>
          <a:xfrm>
            <a:off x="2926080" y="461772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2a3d"/>
                </a:solidFill>
                <a:latin typeface="Calibri"/>
              </a:rPr>
              <a:t>0,60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5"/>
          <p:cNvSpPr/>
          <p:nvPr/>
        </p:nvSpPr>
        <p:spPr>
          <a:xfrm>
            <a:off x="2377440" y="53035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saída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N2_Tecnico box"/>
          <p:cNvSpPr/>
          <p:nvPr/>
        </p:nvSpPr>
        <p:spPr>
          <a:xfrm>
            <a:off x="5394960" y="2788920"/>
            <a:ext cx="2468520" cy="1599840"/>
          </a:xfrm>
          <a:prstGeom prst="roundRect">
            <a:avLst>
              <a:gd name="adj" fmla="val 6857"/>
            </a:avLst>
          </a:prstGeom>
          <a:solidFill>
            <a:srgbClr val="fceedd"/>
          </a:solidFill>
          <a:ln w="38100">
            <a:solidFill>
              <a:srgbClr val="2e9e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N2_Tecnico text"/>
          <p:cNvSpPr/>
          <p:nvPr/>
        </p:nvSpPr>
        <p:spPr>
          <a:xfrm>
            <a:off x="5486400" y="2898720"/>
            <a:ext cx="2285640" cy="13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2631"/>
                </a:solidFill>
                <a:latin typeface="Calibri"/>
              </a:rPr>
              <a:t>N2_Tecnico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accent4"/>
                </a:solidFill>
                <a:latin typeface="Cambria"/>
                <a:ea typeface="Cambria"/>
              </a:rPr>
              <a:t>G/G/2/8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b2631"/>
                </a:solidFill>
                <a:latin typeface="Calibri"/>
                <a:ea typeface="Cambria"/>
              </a:rPr>
              <a:t>c = </a:t>
            </a:r>
            <a:r>
              <a:rPr b="1" lang="en-US" sz="1400" spc="-1" strike="noStrike">
                <a:solidFill>
                  <a:schemeClr val="accent4"/>
                </a:solidFill>
                <a:latin typeface="Calibri"/>
                <a:ea typeface="Cambria"/>
              </a:rPr>
              <a:t>1 → 2</a:t>
            </a:r>
            <a:r>
              <a:rPr b="0" lang="en-US" sz="1400" spc="-1" strike="noStrike">
                <a:solidFill>
                  <a:srgbClr val="1b2631"/>
                </a:solidFill>
                <a:latin typeface="Calibri"/>
                <a:ea typeface="Cambria"/>
              </a:rPr>
              <a:t> · K = </a:t>
            </a:r>
            <a:r>
              <a:rPr b="1" lang="en-US" sz="1400" spc="-1" strike="noStrike">
                <a:solidFill>
                  <a:schemeClr val="accent4"/>
                </a:solidFill>
                <a:latin typeface="Calibri"/>
                <a:ea typeface="Cambria"/>
              </a:rPr>
              <a:t>5 → 8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b2631"/>
                </a:solidFill>
                <a:latin typeface="Calibri"/>
                <a:ea typeface="Cambria"/>
              </a:rPr>
              <a:t>Serviço U(4, 7) min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N2_Tecnico badge"/>
          <p:cNvSpPr/>
          <p:nvPr/>
        </p:nvSpPr>
        <p:spPr>
          <a:xfrm>
            <a:off x="6675120" y="4224600"/>
            <a:ext cx="1096920" cy="32868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9"/>
          <p:cNvSpPr/>
          <p:nvPr/>
        </p:nvSpPr>
        <p:spPr>
          <a:xfrm>
            <a:off x="6675120" y="4224600"/>
            <a:ext cx="1096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ffffff"/>
                </a:solidFill>
                <a:latin typeface="Calibri"/>
              </a:rPr>
              <a:t>ALTERADO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N2_Tecnico exit"/>
          <p:cNvSpPr/>
          <p:nvPr/>
        </p:nvSpPr>
        <p:spPr>
          <a:xfrm>
            <a:off x="6172200" y="4389120"/>
            <a:ext cx="360" cy="868680"/>
          </a:xfrm>
          <a:prstGeom prst="line">
            <a:avLst/>
          </a:prstGeom>
          <a:ln w="22225">
            <a:solidFill>
              <a:srgbClr val="0f2a3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11"/>
          <p:cNvSpPr/>
          <p:nvPr/>
        </p:nvSpPr>
        <p:spPr>
          <a:xfrm>
            <a:off x="6263640" y="461772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2a3d"/>
                </a:solidFill>
                <a:latin typeface="Calibri"/>
              </a:rPr>
              <a:t>0,45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12"/>
          <p:cNvSpPr/>
          <p:nvPr/>
        </p:nvSpPr>
        <p:spPr>
          <a:xfrm>
            <a:off x="5715000" y="53035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saída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N3_Engenharia box"/>
          <p:cNvSpPr/>
          <p:nvPr/>
        </p:nvSpPr>
        <p:spPr>
          <a:xfrm>
            <a:off x="8732520" y="2788920"/>
            <a:ext cx="2468520" cy="1599840"/>
          </a:xfrm>
          <a:prstGeom prst="roundRect">
            <a:avLst>
              <a:gd name="adj" fmla="val 6857"/>
            </a:avLst>
          </a:prstGeom>
          <a:solidFill>
            <a:srgbClr val="e8e9f8"/>
          </a:solidFill>
          <a:ln w="38100">
            <a:solidFill>
              <a:srgbClr val="2e9e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N3_Engenharia text"/>
          <p:cNvSpPr/>
          <p:nvPr/>
        </p:nvSpPr>
        <p:spPr>
          <a:xfrm>
            <a:off x="8823960" y="2898720"/>
            <a:ext cx="2285640" cy="13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2631"/>
                </a:solidFill>
                <a:latin typeface="Calibri"/>
              </a:rPr>
              <a:t>N3_Engenharia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accent4"/>
                </a:solidFill>
                <a:latin typeface="Cambria"/>
                <a:ea typeface="Cambria"/>
              </a:rPr>
              <a:t>G/G/1/6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b2631"/>
                </a:solidFill>
                <a:latin typeface="Calibri"/>
                <a:ea typeface="Cambria"/>
              </a:rPr>
              <a:t>c = </a:t>
            </a:r>
            <a:r>
              <a:rPr b="1" lang="en-US" sz="1400" spc="-1" strike="noStrike">
                <a:solidFill>
                  <a:schemeClr val="accent4"/>
                </a:solidFill>
                <a:latin typeface="Calibri"/>
                <a:ea typeface="Cambria"/>
              </a:rPr>
              <a:t>2 → 1</a:t>
            </a:r>
            <a:r>
              <a:rPr b="0" lang="en-US" sz="1400" spc="-1" strike="noStrike">
                <a:solidFill>
                  <a:srgbClr val="1b2631"/>
                </a:solidFill>
                <a:latin typeface="Calibri"/>
                <a:ea typeface="Cambria"/>
              </a:rPr>
              <a:t> · K = 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b2631"/>
                </a:solidFill>
                <a:latin typeface="Calibri"/>
                <a:ea typeface="Cambria"/>
              </a:rPr>
              <a:t>Serviço U(6, 12) min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N3_Engenharia badge"/>
          <p:cNvSpPr/>
          <p:nvPr/>
        </p:nvSpPr>
        <p:spPr>
          <a:xfrm>
            <a:off x="10012680" y="4224600"/>
            <a:ext cx="1096920" cy="32868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16"/>
          <p:cNvSpPr/>
          <p:nvPr/>
        </p:nvSpPr>
        <p:spPr>
          <a:xfrm>
            <a:off x="10012680" y="4224600"/>
            <a:ext cx="1096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ffffff"/>
                </a:solidFill>
                <a:latin typeface="Calibri"/>
              </a:rPr>
              <a:t>ALTERADO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N3_Engenharia exit"/>
          <p:cNvSpPr/>
          <p:nvPr/>
        </p:nvSpPr>
        <p:spPr>
          <a:xfrm>
            <a:off x="9509760" y="4389120"/>
            <a:ext cx="360" cy="868680"/>
          </a:xfrm>
          <a:prstGeom prst="line">
            <a:avLst/>
          </a:prstGeom>
          <a:ln w="22225">
            <a:solidFill>
              <a:srgbClr val="0f2a3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18"/>
          <p:cNvSpPr/>
          <p:nvPr/>
        </p:nvSpPr>
        <p:spPr>
          <a:xfrm>
            <a:off x="9601200" y="461772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2a3d"/>
                </a:solidFill>
                <a:latin typeface="Calibri"/>
              </a:rPr>
              <a:t>0,20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19"/>
          <p:cNvSpPr/>
          <p:nvPr/>
        </p:nvSpPr>
        <p:spPr>
          <a:xfrm>
            <a:off x="9052560" y="53035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saída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 20"/>
          <p:cNvSpPr/>
          <p:nvPr/>
        </p:nvSpPr>
        <p:spPr>
          <a:xfrm>
            <a:off x="457200" y="2930760"/>
            <a:ext cx="146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2a3d"/>
                </a:solidFill>
                <a:latin typeface="Calibri"/>
              </a:rPr>
              <a:t>Chegadas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f2a3d"/>
                </a:solidFill>
                <a:latin typeface="Calibri"/>
              </a:rPr>
              <a:t>U(2, 4) min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external arrival"/>
          <p:cNvSpPr/>
          <p:nvPr/>
        </p:nvSpPr>
        <p:spPr>
          <a:xfrm>
            <a:off x="502920" y="3588840"/>
            <a:ext cx="1554480" cy="360"/>
          </a:xfrm>
          <a:prstGeom prst="line">
            <a:avLst/>
          </a:prstGeom>
          <a:ln w="22225">
            <a:solidFill>
              <a:srgbClr val="0f2a3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N1 to N2"/>
          <p:cNvSpPr/>
          <p:nvPr/>
        </p:nvSpPr>
        <p:spPr>
          <a:xfrm>
            <a:off x="4526280" y="3588840"/>
            <a:ext cx="868680" cy="360"/>
          </a:xfrm>
          <a:prstGeom prst="line">
            <a:avLst/>
          </a:prstGeom>
          <a:ln w="22225">
            <a:solidFill>
              <a:srgbClr val="0f2a3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23"/>
          <p:cNvSpPr/>
          <p:nvPr/>
        </p:nvSpPr>
        <p:spPr>
          <a:xfrm>
            <a:off x="4526280" y="3259800"/>
            <a:ext cx="868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2a3d"/>
                </a:solidFill>
                <a:latin typeface="Calibri"/>
              </a:rPr>
              <a:t>0,40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N2 to N3"/>
          <p:cNvSpPr/>
          <p:nvPr/>
        </p:nvSpPr>
        <p:spPr>
          <a:xfrm>
            <a:off x="7863840" y="3588840"/>
            <a:ext cx="868680" cy="360"/>
          </a:xfrm>
          <a:prstGeom prst="line">
            <a:avLst/>
          </a:prstGeom>
          <a:ln w="22225">
            <a:solidFill>
              <a:srgbClr val="0f2a3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25"/>
          <p:cNvSpPr/>
          <p:nvPr/>
        </p:nvSpPr>
        <p:spPr>
          <a:xfrm>
            <a:off x="7863840" y="3259800"/>
            <a:ext cx="868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2a3d"/>
                </a:solidFill>
                <a:latin typeface="Calibri"/>
              </a:rPr>
              <a:t>0,25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N2 to N1 up"/>
          <p:cNvSpPr/>
          <p:nvPr/>
        </p:nvSpPr>
        <p:spPr>
          <a:xfrm flipV="1">
            <a:off x="5943600" y="1965960"/>
            <a:ext cx="360" cy="822960"/>
          </a:xfrm>
          <a:prstGeom prst="line">
            <a:avLst/>
          </a:prstGeom>
          <a:ln w="22225">
            <a:solidFill>
              <a:srgbClr val="0f2a3d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N2 to N1 across"/>
          <p:cNvSpPr/>
          <p:nvPr/>
        </p:nvSpPr>
        <p:spPr>
          <a:xfrm flipH="1">
            <a:off x="3291840" y="1965960"/>
            <a:ext cx="2651760" cy="360"/>
          </a:xfrm>
          <a:prstGeom prst="line">
            <a:avLst/>
          </a:prstGeom>
          <a:ln w="22225">
            <a:solidFill>
              <a:srgbClr val="0f2a3d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N2 to N1 down"/>
          <p:cNvSpPr/>
          <p:nvPr/>
        </p:nvSpPr>
        <p:spPr>
          <a:xfrm>
            <a:off x="3291840" y="1965960"/>
            <a:ext cx="360" cy="822960"/>
          </a:xfrm>
          <a:prstGeom prst="line">
            <a:avLst/>
          </a:prstGeom>
          <a:ln w="22225">
            <a:solidFill>
              <a:srgbClr val="0f2a3d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29"/>
          <p:cNvSpPr/>
          <p:nvPr/>
        </p:nvSpPr>
        <p:spPr>
          <a:xfrm>
            <a:off x="3291840" y="161856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2a3d"/>
                </a:solidFill>
                <a:latin typeface="Calibri"/>
              </a:rPr>
              <a:t>0,30 (retorno)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N3 to N2 up"/>
          <p:cNvSpPr/>
          <p:nvPr/>
        </p:nvSpPr>
        <p:spPr>
          <a:xfrm flipV="1">
            <a:off x="9966960" y="1965960"/>
            <a:ext cx="360" cy="822960"/>
          </a:xfrm>
          <a:prstGeom prst="line">
            <a:avLst/>
          </a:prstGeom>
          <a:ln w="22225">
            <a:solidFill>
              <a:srgbClr val="0f2a3d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N3 to N2 across"/>
          <p:cNvSpPr/>
          <p:nvPr/>
        </p:nvSpPr>
        <p:spPr>
          <a:xfrm flipH="1">
            <a:off x="7315200" y="1965960"/>
            <a:ext cx="2651760" cy="360"/>
          </a:xfrm>
          <a:prstGeom prst="line">
            <a:avLst/>
          </a:prstGeom>
          <a:ln w="22225">
            <a:solidFill>
              <a:srgbClr val="0f2a3d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N3 to N2 down"/>
          <p:cNvSpPr/>
          <p:nvPr/>
        </p:nvSpPr>
        <p:spPr>
          <a:xfrm>
            <a:off x="7315200" y="1965960"/>
            <a:ext cx="360" cy="822960"/>
          </a:xfrm>
          <a:prstGeom prst="line">
            <a:avLst/>
          </a:prstGeom>
          <a:ln w="22225">
            <a:solidFill>
              <a:srgbClr val="0f2a3d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33"/>
          <p:cNvSpPr/>
          <p:nvPr/>
        </p:nvSpPr>
        <p:spPr>
          <a:xfrm>
            <a:off x="7315200" y="161856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2a3d"/>
                </a:solidFill>
                <a:latin typeface="Calibri"/>
              </a:rPr>
              <a:t>0,80 (retorno)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34"/>
          <p:cNvSpPr/>
          <p:nvPr/>
        </p:nvSpPr>
        <p:spPr>
          <a:xfrm>
            <a:off x="548640" y="566928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4"/>
                </a:solidFill>
                <a:latin typeface="Calibri"/>
              </a:rPr>
              <a:t>Em verde, os parâmetros alterados. </a:t>
            </a:r>
            <a:r>
              <a:rPr b="0" lang="en-US" sz="1400" spc="-1" strike="noStrike">
                <a:solidFill>
                  <a:srgbClr val="1b2631"/>
                </a:solidFill>
                <a:latin typeface="Calibri"/>
              </a:rPr>
              <a:t>O quadro continua com 4 pessoas. Tempos de atendimento, chegadas e probabilidades de roteamento não mudam. Nova carga: ρ2 = 0,539 e ρ3 = 0,441.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sldNum" idx="12"/>
          </p:nvPr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6b7a89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195745C-DC43-4597-9122-F4DBAC8A48F6}" type="slidenum">
              <a:rPr b="0" lang="en-US" sz="1000" spc="-1" strike="noStrike">
                <a:solidFill>
                  <a:srgbClr val="6b7a89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0f2a3d"/>
                </a:solidFill>
                <a:latin typeface="Cambria"/>
              </a:rPr>
              <a:t>Comparação por fila: carga redistribuída</a:t>
            </a:r>
            <a:endParaRPr b="0" lang="en-US" sz="3000" spc="-1" strike="noStrike">
              <a:solidFill>
                <a:srgbClr val="1b2631"/>
              </a:solidFill>
              <a:latin typeface="Calibri"/>
            </a:endParaRPr>
          </a:p>
        </p:txBody>
      </p:sp>
      <p:graphicFrame>
        <p:nvGraphicFramePr>
          <p:cNvPr id="297" name="Chart 0"/>
          <p:cNvGraphicFramePr/>
          <p:nvPr/>
        </p:nvGraphicFramePr>
        <p:xfrm>
          <a:off x="548640" y="1280160"/>
          <a:ext cx="4571640" cy="466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98" name="Table 0"/>
          <p:cNvGraphicFramePr/>
          <p:nvPr/>
        </p:nvGraphicFramePr>
        <p:xfrm>
          <a:off x="5486400" y="1325880"/>
          <a:ext cx="6126120" cy="4114800"/>
        </p:xfrm>
        <a:graphic>
          <a:graphicData uri="http://schemas.openxmlformats.org/drawingml/2006/table">
            <a:tbl>
              <a:tblPr/>
              <a:tblGrid>
                <a:gridCol w="2468880"/>
                <a:gridCol w="1097280"/>
                <a:gridCol w="1371600"/>
                <a:gridCol w="1188720"/>
              </a:tblGrid>
              <a:tr h="457200">
                <a:tc>
                  <a:txBody>
                    <a:bodyPr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Fila · índice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Atual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Melhorado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Variação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</a:tr>
              <a:tr h="457200">
                <a:tc>
                  <a:txBody>
                    <a:bodyPr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N2 · resposta W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16,6 min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6,1 min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2e9e5b"/>
                          </a:solidFill>
                          <a:latin typeface="Calibri"/>
                        </a:rPr>
                        <a:t>−</a:t>
                      </a:r>
                      <a:r>
                        <a:rPr b="1" lang="en-US" sz="1400" spc="-1" strike="noStrike">
                          <a:solidFill>
                            <a:srgbClr val="2e9e5b"/>
                          </a:solidFill>
                          <a:latin typeface="Calibri"/>
                        </a:rPr>
                        <a:t>63%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N2 · espera Wq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11,1 min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0,57 min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2e9e5b"/>
                          </a:solidFill>
                          <a:latin typeface="Calibri"/>
                        </a:rPr>
                        <a:t>−</a:t>
                      </a:r>
                      <a:r>
                        <a:rPr b="1" lang="en-US" sz="1400" spc="-1" strike="noStrike">
                          <a:solidFill>
                            <a:srgbClr val="2e9e5b"/>
                          </a:solidFill>
                          <a:latin typeface="Calibri"/>
                        </a:rPr>
                        <a:t>95%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N2 · população 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2,83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1,19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2e9e5b"/>
                          </a:solidFill>
                          <a:latin typeface="Calibri"/>
                        </a:rPr>
                        <a:t>−</a:t>
                      </a:r>
                      <a:r>
                        <a:rPr b="1" lang="en-US" sz="1400" spc="-1" strike="noStrike">
                          <a:solidFill>
                            <a:srgbClr val="2e9e5b"/>
                          </a:solidFill>
                          <a:latin typeface="Calibri"/>
                        </a:rPr>
                        <a:t>58%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N2 · vazão X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0,170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0,196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2e9e5b"/>
                          </a:solidFill>
                          <a:latin typeface="Calibri"/>
                        </a:rPr>
                        <a:t>+15%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N2 · perdas/execução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1.142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0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2e9e5b"/>
                          </a:solidFill>
                          <a:latin typeface="Calibri"/>
                        </a:rPr>
                        <a:t>−</a:t>
                      </a:r>
                      <a:r>
                        <a:rPr b="1" lang="en-US" sz="1400" spc="-1" strike="noStrike">
                          <a:solidFill>
                            <a:srgbClr val="2e9e5b"/>
                          </a:solidFill>
                          <a:latin typeface="Calibri"/>
                        </a:rPr>
                        <a:t>100%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N3 · resposta W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e8e9f8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9,0 min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e8e9f8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12,3 min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e8e9f8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c0392b"/>
                          </a:solidFill>
                          <a:latin typeface="Calibri"/>
                        </a:rPr>
                        <a:t>+36%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e8e9f8"/>
                    </a:solidFill>
                  </a:tcPr>
                </a:tc>
              </a:tr>
              <a:tr h="457200">
                <a:tc>
                  <a:txBody>
                    <a:bodyPr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N3 · espera Wq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e8e9f8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0,01 min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e8e9f8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3,3 min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e8e9f8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c0392b"/>
                          </a:solidFill>
                          <a:latin typeface="Calibri"/>
                        </a:rPr>
                        <a:t>+3,2 min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e8e9f8"/>
                    </a:solidFill>
                  </a:tcPr>
                </a:tc>
              </a:tr>
              <a:tr h="457200">
                <a:tc>
                  <a:txBody>
                    <a:bodyPr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N1 · resposta W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2,0 min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2,1 min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+4%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9" name="Text 1"/>
          <p:cNvSpPr/>
          <p:nvPr/>
        </p:nvSpPr>
        <p:spPr>
          <a:xfrm>
            <a:off x="5486400" y="5532120"/>
            <a:ext cx="6126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O N3 piora um pouco, mas continua longe da saturação; só ~5% dos chamados passam por ele.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sldNum" idx="13"/>
          </p:nvPr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6b7a89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B8056F2-BB54-49C4-B46B-99E1A0E24962}" type="slidenum">
              <a:rPr b="0" lang="en-US" sz="1000" spc="-1" strike="noStrike">
                <a:solidFill>
                  <a:srgbClr val="6b7a89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0f2a3d"/>
                </a:solidFill>
                <a:latin typeface="Cambria"/>
              </a:rPr>
              <a:t>Central inteira: sem perdas e 34% mais rápida</a:t>
            </a:r>
            <a:endParaRPr b="0" lang="en-US" sz="3000" spc="-1" strike="noStrike">
              <a:solidFill>
                <a:srgbClr val="1b2631"/>
              </a:solidFill>
              <a:latin typeface="Calibri"/>
            </a:endParaRPr>
          </a:p>
        </p:txBody>
      </p:sp>
      <p:graphicFrame>
        <p:nvGraphicFramePr>
          <p:cNvPr id="302" name="Chart 0"/>
          <p:cNvGraphicFramePr/>
          <p:nvPr/>
        </p:nvGraphicFramePr>
        <p:xfrm>
          <a:off x="548640" y="1280160"/>
          <a:ext cx="5760360" cy="466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03" name="net Chamados perdidos"/>
          <p:cNvSpPr/>
          <p:nvPr/>
        </p:nvSpPr>
        <p:spPr>
          <a:xfrm>
            <a:off x="6675120" y="1325880"/>
            <a:ext cx="4937400" cy="1005480"/>
          </a:xfrm>
          <a:prstGeom prst="roundRect">
            <a:avLst>
              <a:gd name="adj" fmla="val 9091"/>
            </a:avLst>
          </a:prstGeom>
          <a:solidFill>
            <a:srgbClr val="e3f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2"/>
          <p:cNvSpPr/>
          <p:nvPr/>
        </p:nvSpPr>
        <p:spPr>
          <a:xfrm>
            <a:off x="6858000" y="141732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accent6"/>
                </a:solidFill>
                <a:latin typeface="Calibri"/>
              </a:rPr>
              <a:t>Chamados perdidos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3"/>
          <p:cNvSpPr/>
          <p:nvPr/>
        </p:nvSpPr>
        <p:spPr>
          <a:xfrm>
            <a:off x="6858000" y="1737360"/>
            <a:ext cx="4571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chemeClr val="accent6"/>
                </a:solidFill>
                <a:latin typeface="Cambria"/>
                <a:ea typeface="Cambria"/>
              </a:rPr>
              <a:t>5,23%  →  </a:t>
            </a:r>
            <a:r>
              <a:rPr b="1" lang="en-US" sz="2600" spc="-1" strike="noStrike">
                <a:solidFill>
                  <a:schemeClr val="accent4"/>
                </a:solidFill>
                <a:latin typeface="Cambria"/>
                <a:ea typeface="Cambria"/>
              </a:rPr>
              <a:t>≈ 0%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net Tempo médio na central"/>
          <p:cNvSpPr/>
          <p:nvPr/>
        </p:nvSpPr>
        <p:spPr>
          <a:xfrm>
            <a:off x="6675120" y="2496240"/>
            <a:ext cx="4937400" cy="1005480"/>
          </a:xfrm>
          <a:prstGeom prst="roundRect">
            <a:avLst>
              <a:gd name="adj" fmla="val 9091"/>
            </a:avLst>
          </a:prstGeom>
          <a:solidFill>
            <a:srgbClr val="e3f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5"/>
          <p:cNvSpPr/>
          <p:nvPr/>
        </p:nvSpPr>
        <p:spPr>
          <a:xfrm>
            <a:off x="6858000" y="258768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accent6"/>
                </a:solidFill>
                <a:latin typeface="Calibri"/>
              </a:rPr>
              <a:t>Tempo médio na central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6"/>
          <p:cNvSpPr/>
          <p:nvPr/>
        </p:nvSpPr>
        <p:spPr>
          <a:xfrm>
            <a:off x="6858000" y="2907720"/>
            <a:ext cx="4571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chemeClr val="accent6"/>
                </a:solidFill>
                <a:latin typeface="Cambria"/>
                <a:ea typeface="Cambria"/>
              </a:rPr>
              <a:t>11,9 min  →  </a:t>
            </a:r>
            <a:r>
              <a:rPr b="1" lang="en-US" sz="2600" spc="-1" strike="noStrike">
                <a:solidFill>
                  <a:schemeClr val="accent4"/>
                </a:solidFill>
                <a:latin typeface="Cambria"/>
                <a:ea typeface="Cambria"/>
              </a:rPr>
              <a:t>7,8 min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net Chamados na central (N)"/>
          <p:cNvSpPr/>
          <p:nvPr/>
        </p:nvSpPr>
        <p:spPr>
          <a:xfrm>
            <a:off x="6675120" y="3666600"/>
            <a:ext cx="4937400" cy="10054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8"/>
          <p:cNvSpPr/>
          <p:nvPr/>
        </p:nvSpPr>
        <p:spPr>
          <a:xfrm>
            <a:off x="6858000" y="375804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accent6"/>
                </a:solidFill>
                <a:latin typeface="Calibri"/>
              </a:rPr>
              <a:t>Chamados na central (N)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9"/>
          <p:cNvSpPr/>
          <p:nvPr/>
        </p:nvSpPr>
        <p:spPr>
          <a:xfrm>
            <a:off x="6858000" y="4078080"/>
            <a:ext cx="4571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chemeClr val="accent6"/>
                </a:solidFill>
                <a:latin typeface="Cambria"/>
                <a:ea typeface="Cambria"/>
              </a:rPr>
              <a:t>3,97  →  </a:t>
            </a:r>
            <a:r>
              <a:rPr b="1" lang="en-US" sz="2600" spc="-1" strike="noStrike">
                <a:solidFill>
                  <a:schemeClr val="accent4"/>
                </a:solidFill>
                <a:latin typeface="Cambria"/>
                <a:ea typeface="Cambria"/>
              </a:rPr>
              <a:t>2,61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net Resolvidos por minuto"/>
          <p:cNvSpPr/>
          <p:nvPr/>
        </p:nvSpPr>
        <p:spPr>
          <a:xfrm>
            <a:off x="6675120" y="4837320"/>
            <a:ext cx="4937400" cy="10054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11"/>
          <p:cNvSpPr/>
          <p:nvPr/>
        </p:nvSpPr>
        <p:spPr>
          <a:xfrm>
            <a:off x="6858000" y="492876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accent6"/>
                </a:solidFill>
                <a:latin typeface="Calibri"/>
              </a:rPr>
              <a:t>Resolvidos por minuto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12"/>
          <p:cNvSpPr/>
          <p:nvPr/>
        </p:nvSpPr>
        <p:spPr>
          <a:xfrm>
            <a:off x="6858000" y="5248800"/>
            <a:ext cx="4571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chemeClr val="accent6"/>
                </a:solidFill>
                <a:latin typeface="Cambria"/>
                <a:ea typeface="Cambria"/>
              </a:rPr>
              <a:t>0,316  →  </a:t>
            </a:r>
            <a:r>
              <a:rPr b="1" lang="en-US" sz="2600" spc="-1" strike="noStrike">
                <a:solidFill>
                  <a:schemeClr val="accent4"/>
                </a:solidFill>
                <a:latin typeface="Cambria"/>
                <a:ea typeface="Cambria"/>
              </a:rPr>
              <a:t>0,334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 type="sldNum" idx="14"/>
          </p:nvPr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6b7a89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7E5686C-5FCF-4DD7-9B69-7B05551D4335}" type="slidenum">
              <a:rPr b="0" lang="en-US" sz="1000" spc="-1" strike="noStrike">
                <a:solidFill>
                  <a:srgbClr val="6b7a89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0f2a3d"/>
                </a:solidFill>
                <a:latin typeface="Cambria"/>
              </a:rPr>
              <a:t>O simulador </a:t>
            </a:r>
            <a:r>
              <a:rPr b="1" lang="en-US" sz="3000" spc="-1" strike="noStrike">
                <a:solidFill>
                  <a:srgbClr val="0f2a3d"/>
                </a:solidFill>
                <a:latin typeface="Cambria"/>
              </a:rPr>
              <a:t>do grupo </a:t>
            </a:r>
            <a:r>
              <a:rPr b="1" lang="en-US" sz="3000" spc="-1" strike="noStrike">
                <a:solidFill>
                  <a:srgbClr val="0f2a3d"/>
                </a:solidFill>
                <a:latin typeface="Cambria"/>
              </a:rPr>
              <a:t>confere com </a:t>
            </a:r>
            <a:r>
              <a:rPr b="1" lang="en-US" sz="3000" spc="-1" strike="noStrike">
                <a:solidFill>
                  <a:srgbClr val="0f2a3d"/>
                </a:solidFill>
                <a:latin typeface="Cambria"/>
              </a:rPr>
              <a:t>o do M3</a:t>
            </a:r>
            <a:endParaRPr b="0" lang="en-US" sz="3000" spc="-1" strike="noStrike">
              <a:solidFill>
                <a:srgbClr val="1b2631"/>
              </a:solidFill>
              <a:latin typeface="Calibri"/>
            </a:endParaRPr>
          </a:p>
        </p:txBody>
      </p:sp>
      <p:graphicFrame>
        <p:nvGraphicFramePr>
          <p:cNvPr id="317" name="Table 0"/>
          <p:cNvGraphicFramePr/>
          <p:nvPr/>
        </p:nvGraphicFramePr>
        <p:xfrm>
          <a:off x="548640" y="1325880"/>
          <a:ext cx="7314840" cy="320040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1463040"/>
                <a:gridCol w="1097280"/>
              </a:tblGrid>
              <a:tr h="457200">
                <a:tc>
                  <a:txBody>
                    <a:bodyPr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Modelo · fila · estado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t2 (média ± dp)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simulator.jar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Dif.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</a:tr>
              <a:tr h="457200">
                <a:tc>
                  <a:txBody>
                    <a:bodyPr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M9 · TRIAGEM · 9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28,88% ± 0,72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28,69%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+0,19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M9 · LABORATORIO · 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39,27% ± 0,33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39,28%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−</a:t>
                      </a: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0,01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T2 atual · N2_Tecnico · 4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24,64% ± 0,87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24,48%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+0,16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T2 atual · N3_Engenharia · 0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65,58% ± 0,43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65,67%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−</a:t>
                      </a: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0,09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T2 melhorado · N2_Tecnico · 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40,94% ± 0,29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41,01%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−</a:t>
                      </a: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0,07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tIns="3636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T2 atual · perdas no N2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1.159,5 ± 55,5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1.154,5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b2631"/>
                          </a:solidFill>
                          <a:latin typeface="Calibri"/>
                        </a:rPr>
                        <a:t>+5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de3"/>
                      </a:solidFill>
                    </a:lnL>
                    <a:lnR w="9360">
                      <a:solidFill>
                        <a:srgbClr val="d5dde3"/>
                      </a:solidFill>
                    </a:lnR>
                    <a:lnT w="9360">
                      <a:solidFill>
                        <a:srgbClr val="d5dde3"/>
                      </a:solidFill>
                    </a:lnT>
                    <a:lnB w="936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8" name="validation card"/>
          <p:cNvSpPr/>
          <p:nvPr/>
        </p:nvSpPr>
        <p:spPr>
          <a:xfrm>
            <a:off x="8229600" y="1325880"/>
            <a:ext cx="3382920" cy="3245760"/>
          </a:xfrm>
          <a:prstGeom prst="roundRect">
            <a:avLst>
              <a:gd name="adj" fmla="val 3380"/>
            </a:avLst>
          </a:prstGeom>
          <a:solidFill>
            <a:srgbClr val="e3f4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validado circle"/>
          <p:cNvSpPr/>
          <p:nvPr/>
        </p:nvSpPr>
        <p:spPr>
          <a:xfrm>
            <a:off x="8503920" y="1600200"/>
            <a:ext cx="639720" cy="63972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0" name="validado icon" descr="validado"/>
          <p:cNvPicPr/>
          <p:nvPr/>
        </p:nvPicPr>
        <p:blipFill>
          <a:blip r:embed="rId1"/>
          <a:stretch/>
        </p:blipFill>
        <p:spPr>
          <a:xfrm>
            <a:off x="8664120" y="176040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321" name="Text 3"/>
          <p:cNvSpPr/>
          <p:nvPr/>
        </p:nvSpPr>
        <p:spPr>
          <a:xfrm>
            <a:off x="8503920" y="237744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chemeClr val="accent4"/>
                </a:solidFill>
                <a:latin typeface="Cambria"/>
                <a:ea typeface="Cambria"/>
              </a:rPr>
              <a:t>&lt; 1 desvio-padrão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4"/>
          <p:cNvSpPr/>
          <p:nvPr/>
        </p:nvSpPr>
        <p:spPr>
          <a:xfrm>
            <a:off x="8503920" y="2971800"/>
            <a:ext cx="29257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b2631"/>
                </a:solidFill>
                <a:latin typeface="Calibri"/>
              </a:rPr>
              <a:t>Em todos os estados de todas as filas, com 20 sementes em cada simulador.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5"/>
          <p:cNvSpPr/>
          <p:nvPr/>
        </p:nvSpPr>
        <p:spPr>
          <a:xfrm>
            <a:off x="548640" y="484632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accent6"/>
                </a:solidFill>
                <a:latin typeface="Calibri"/>
              </a:rPr>
              <a:t>Os geradores aleatórios são diferentes, então comparamos médias de 20 execuções em vez de uma execução isolada. As utilizações simuladas também batem com as equações de tráfego (N1: 67% × ρ 0,686; N3 melhorado: 44% × ρ 0,441).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 type="sldNum" idx="15"/>
          </p:nvPr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6b7a89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BF1FEC-3314-4229-9D5A-C2291C3C3BB8}" type="slidenum">
              <a:rPr b="0" lang="en-US" sz="1000" spc="-1" strike="noStrike">
                <a:solidFill>
                  <a:srgbClr val="6b7a89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</a:rPr>
              <a:t>Conclusões</a:t>
            </a:r>
            <a:endParaRPr b="0" lang="en-US" sz="3000" spc="-1" strike="noStrike">
              <a:solidFill>
                <a:srgbClr val="1b2631"/>
              </a:solidFill>
              <a:latin typeface="Calibri"/>
            </a:endParaRPr>
          </a:p>
        </p:txBody>
      </p:sp>
      <p:sp>
        <p:nvSpPr>
          <p:cNvPr id="326" name="Gargalo encontrado card"/>
          <p:cNvSpPr/>
          <p:nvPr/>
        </p:nvSpPr>
        <p:spPr>
          <a:xfrm>
            <a:off x="548640" y="1463040"/>
            <a:ext cx="5440320" cy="2102760"/>
          </a:xfrm>
          <a:prstGeom prst="roundRect">
            <a:avLst>
              <a:gd name="adj" fmla="val 5217"/>
            </a:avLst>
          </a:prstGeom>
          <a:solidFill>
            <a:srgbClr val="1638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Gargalo encontrado circle"/>
          <p:cNvSpPr/>
          <p:nvPr/>
        </p:nvSpPr>
        <p:spPr>
          <a:xfrm>
            <a:off x="822960" y="1737360"/>
            <a:ext cx="639720" cy="639720"/>
          </a:xfrm>
          <a:prstGeom prst="ellipse">
            <a:avLst/>
          </a:prstGeom>
          <a:solidFill>
            <a:srgbClr val="d977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8" name="Gargalo encontrado icon" descr="Gargalo encontrado"/>
          <p:cNvPicPr/>
          <p:nvPr/>
        </p:nvPicPr>
        <p:blipFill>
          <a:blip r:embed="rId1"/>
          <a:stretch/>
        </p:blipFill>
        <p:spPr>
          <a:xfrm>
            <a:off x="983160" y="189756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329" name="Text 3"/>
          <p:cNvSpPr/>
          <p:nvPr/>
        </p:nvSpPr>
        <p:spPr>
          <a:xfrm>
            <a:off x="1645920" y="1737360"/>
            <a:ext cx="4114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Gargalo encontrado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 4"/>
          <p:cNvSpPr/>
          <p:nvPr/>
        </p:nvSpPr>
        <p:spPr>
          <a:xfrm>
            <a:off x="822960" y="2514600"/>
            <a:ext cx="4891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d5e1e9"/>
                </a:solidFill>
                <a:latin typeface="Calibri"/>
              </a:rPr>
              <a:t>O N2 (ρ = 1,08) concentrava escalonamentos do N1 e retornos do N3: 93% de uso e 5,2% dos chamados perdidos.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Melhoria sem custo card"/>
          <p:cNvSpPr/>
          <p:nvPr/>
        </p:nvSpPr>
        <p:spPr>
          <a:xfrm>
            <a:off x="6172200" y="1463040"/>
            <a:ext cx="5440320" cy="2102760"/>
          </a:xfrm>
          <a:prstGeom prst="roundRect">
            <a:avLst>
              <a:gd name="adj" fmla="val 5217"/>
            </a:avLst>
          </a:prstGeom>
          <a:solidFill>
            <a:srgbClr val="1638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Melhoria sem custo circle"/>
          <p:cNvSpPr/>
          <p:nvPr/>
        </p:nvSpPr>
        <p:spPr>
          <a:xfrm>
            <a:off x="6446520" y="1737360"/>
            <a:ext cx="639720" cy="639720"/>
          </a:xfrm>
          <a:prstGeom prst="ellipse">
            <a:avLst/>
          </a:prstGeom>
          <a:solidFill>
            <a:srgbClr val="2e9e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3" name="Melhoria sem custo icon" descr="Melhoria sem custo"/>
          <p:cNvPicPr/>
          <p:nvPr/>
        </p:nvPicPr>
        <p:blipFill>
          <a:blip r:embed="rId2"/>
          <a:stretch/>
        </p:blipFill>
        <p:spPr>
          <a:xfrm>
            <a:off x="6606720" y="189756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334" name="Text 7"/>
          <p:cNvSpPr/>
          <p:nvPr/>
        </p:nvSpPr>
        <p:spPr>
          <a:xfrm>
            <a:off x="7269480" y="1737360"/>
            <a:ext cx="4114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Melhoria sem custo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 8"/>
          <p:cNvSpPr/>
          <p:nvPr/>
        </p:nvSpPr>
        <p:spPr>
          <a:xfrm>
            <a:off x="6446520" y="2514600"/>
            <a:ext cx="4891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d5e1e9"/>
                </a:solidFill>
                <a:latin typeface="Calibri"/>
              </a:rPr>
              <a:t>Remanejar 1 engenheiro do N3 para o N2 zera as perdas e reduz em 34% o tempo médio de um chamado na central.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Custo aceitável card"/>
          <p:cNvSpPr/>
          <p:nvPr/>
        </p:nvSpPr>
        <p:spPr>
          <a:xfrm>
            <a:off x="548640" y="3794760"/>
            <a:ext cx="5440320" cy="2102760"/>
          </a:xfrm>
          <a:prstGeom prst="roundRect">
            <a:avLst>
              <a:gd name="adj" fmla="val 5217"/>
            </a:avLst>
          </a:prstGeom>
          <a:solidFill>
            <a:srgbClr val="1638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Custo aceitável circle"/>
          <p:cNvSpPr/>
          <p:nvPr/>
        </p:nvSpPr>
        <p:spPr>
          <a:xfrm>
            <a:off x="822960" y="4069080"/>
            <a:ext cx="639720" cy="639720"/>
          </a:xfrm>
          <a:prstGeom prst="ellipse">
            <a:avLst/>
          </a:prstGeom>
          <a:solidFill>
            <a:srgbClr val="5b5f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8" name="Custo aceitável icon" descr="Custo aceitável"/>
          <p:cNvPicPr/>
          <p:nvPr/>
        </p:nvPicPr>
        <p:blipFill>
          <a:blip r:embed="rId3"/>
          <a:stretch/>
        </p:blipFill>
        <p:spPr>
          <a:xfrm>
            <a:off x="983160" y="422928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339" name="Text 11"/>
          <p:cNvSpPr/>
          <p:nvPr/>
        </p:nvSpPr>
        <p:spPr>
          <a:xfrm>
            <a:off x="1645920" y="4069080"/>
            <a:ext cx="4114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Custo aceitável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Text 12"/>
          <p:cNvSpPr/>
          <p:nvPr/>
        </p:nvSpPr>
        <p:spPr>
          <a:xfrm>
            <a:off x="822960" y="4846320"/>
            <a:ext cx="4891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d5e1e9"/>
                </a:solidFill>
                <a:latin typeface="Calibri"/>
              </a:rPr>
              <a:t>O N3 sobe para 44% de utilização e ganha 3 min de espera, ainda longe da saturação.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Próximo ponto de atenção card"/>
          <p:cNvSpPr/>
          <p:nvPr/>
        </p:nvSpPr>
        <p:spPr>
          <a:xfrm>
            <a:off x="6172200" y="3794760"/>
            <a:ext cx="5440320" cy="2102760"/>
          </a:xfrm>
          <a:prstGeom prst="roundRect">
            <a:avLst>
              <a:gd name="adj" fmla="val 5217"/>
            </a:avLst>
          </a:prstGeom>
          <a:solidFill>
            <a:srgbClr val="1638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Próximo ponto de atenção circle"/>
          <p:cNvSpPr/>
          <p:nvPr/>
        </p:nvSpPr>
        <p:spPr>
          <a:xfrm>
            <a:off x="6446520" y="4069080"/>
            <a:ext cx="639720" cy="639720"/>
          </a:xfrm>
          <a:prstGeom prst="ellipse">
            <a:avLst/>
          </a:prstGeom>
          <a:solidFill>
            <a:srgbClr val="0e8c9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3" name="Próximo ponto de atenção icon" descr="Próximo ponto de atenção"/>
          <p:cNvPicPr/>
          <p:nvPr/>
        </p:nvPicPr>
        <p:blipFill>
          <a:blip r:embed="rId4"/>
          <a:stretch/>
        </p:blipFill>
        <p:spPr>
          <a:xfrm>
            <a:off x="6606720" y="422928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344" name="Text 15"/>
          <p:cNvSpPr/>
          <p:nvPr/>
        </p:nvSpPr>
        <p:spPr>
          <a:xfrm>
            <a:off x="7269480" y="4069080"/>
            <a:ext cx="4114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Próximo ponto de atenção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Text 16"/>
          <p:cNvSpPr/>
          <p:nvPr/>
        </p:nvSpPr>
        <p:spPr>
          <a:xfrm>
            <a:off x="6446520" y="4846320"/>
            <a:ext cx="4891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d5e1e9"/>
                </a:solidFill>
                <a:latin typeface="Calibri"/>
              </a:rPr>
              <a:t>Com ~45% mais demanda, o N1 (ρ = 0,69) vira o gargalo. Reduzir o retorno N3 → N2 aliviaria ainda mais o N2.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 type="sldNum" idx="16"/>
          </p:nvPr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8fa6b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95D4359-942B-492B-AAB2-1F1D4E2D0130}" type="slidenum">
              <a:rPr b="0" lang="en-US" sz="1000" spc="-1" strike="noStrike">
                <a:solidFill>
                  <a:srgbClr val="8fa6b5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Suporte TI">
  <a:themeElements>
    <a:clrScheme name="Suporte TI">
      <a:dk1>
        <a:srgbClr val="1b2631"/>
      </a:dk1>
      <a:lt1>
        <a:srgbClr val="ffffff"/>
      </a:lt1>
      <a:dk2>
        <a:srgbClr val="0f2a3d"/>
      </a:dk2>
      <a:lt2>
        <a:srgbClr val="eef3f6"/>
      </a:lt2>
      <a:accent1>
        <a:srgbClr val="0e8c97"/>
      </a:accent1>
      <a:accent2>
        <a:srgbClr val="d9771a"/>
      </a:accent2>
      <a:accent3>
        <a:srgbClr val="5b5fc7"/>
      </a:accent3>
      <a:accent4>
        <a:srgbClr val="2e9e5b"/>
      </a:accent4>
      <a:accent5>
        <a:srgbClr val="c0392b"/>
      </a:accent5>
      <a:accent6>
        <a:srgbClr val="6b7a89"/>
      </a:accent6>
      <a:hlink>
        <a:srgbClr val="0e8c97"/>
      </a:hlink>
      <a:folHlink>
        <a:srgbClr val="5b5fc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Suporte TI">
  <a:themeElements>
    <a:clrScheme name="Suporte TI">
      <a:dk1>
        <a:srgbClr val="1b2631"/>
      </a:dk1>
      <a:lt1>
        <a:srgbClr val="ffffff"/>
      </a:lt1>
      <a:dk2>
        <a:srgbClr val="0f2a3d"/>
      </a:dk2>
      <a:lt2>
        <a:srgbClr val="eef3f6"/>
      </a:lt2>
      <a:accent1>
        <a:srgbClr val="0e8c97"/>
      </a:accent1>
      <a:accent2>
        <a:srgbClr val="d9771a"/>
      </a:accent2>
      <a:accent3>
        <a:srgbClr val="5b5fc7"/>
      </a:accent3>
      <a:accent4>
        <a:srgbClr val="2e9e5b"/>
      </a:accent4>
      <a:accent5>
        <a:srgbClr val="c0392b"/>
      </a:accent5>
      <a:accent6>
        <a:srgbClr val="6b7a89"/>
      </a:accent6>
      <a:hlink>
        <a:srgbClr val="0e8c97"/>
      </a:hlink>
      <a:folHlink>
        <a:srgbClr val="5b5fc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Suporte TI">
  <a:themeElements>
    <a:clrScheme name="Suporte TI">
      <a:dk1>
        <a:srgbClr val="1b2631"/>
      </a:dk1>
      <a:lt1>
        <a:srgbClr val="ffffff"/>
      </a:lt1>
      <a:dk2>
        <a:srgbClr val="0f2a3d"/>
      </a:dk2>
      <a:lt2>
        <a:srgbClr val="eef3f6"/>
      </a:lt2>
      <a:accent1>
        <a:srgbClr val="0e8c97"/>
      </a:accent1>
      <a:accent2>
        <a:srgbClr val="d9771a"/>
      </a:accent2>
      <a:accent3>
        <a:srgbClr val="5b5fc7"/>
      </a:accent3>
      <a:accent4>
        <a:srgbClr val="2e9e5b"/>
      </a:accent4>
      <a:accent5>
        <a:srgbClr val="c0392b"/>
      </a:accent5>
      <a:accent6>
        <a:srgbClr val="6b7a89"/>
      </a:accent6>
      <a:hlink>
        <a:srgbClr val="0e8c97"/>
      </a:hlink>
      <a:folHlink>
        <a:srgbClr val="5b5fc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f2a3d"/>
      </a:dk2>
      <a:lt2>
        <a:srgbClr val="eef3f6"/>
      </a:lt2>
      <a:accent1>
        <a:srgbClr val="0e8c97"/>
      </a:accent1>
      <a:accent2>
        <a:srgbClr val="d9771a"/>
      </a:accent2>
      <a:accent3>
        <a:srgbClr val="5b5fc7"/>
      </a:accent3>
      <a:accent4>
        <a:srgbClr val="2e9e5b"/>
      </a:accent4>
      <a:accent5>
        <a:srgbClr val="c0392b"/>
      </a:accent5>
      <a:accent6>
        <a:srgbClr val="6b7a89"/>
      </a:accent6>
      <a:hlink>
        <a:srgbClr val="0e8c97"/>
      </a:hlink>
      <a:folHlink>
        <a:srgbClr val="5b5fc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LibreOffice/7.4.7.2$Linux_X86_64 LibreOffice_project/40$Build-2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2026-10-14T12:08:14Z</dcterms:created>
  <dc:creator>PptxGenJS</dc:creator>
  <dc:description/>
  <dc:language>en-US</dc:language>
  <cp:lastModifiedBy/>
  <dcterms:modified xsi:type="dcterms:W3CDTF">2026-10-14T14:26:04Z</dcterms:modified>
  <cp:revision>3</cp:revision>
  <dc:subject>Trabalho 2 - Metodos Analiticos</dc:subject>
  <dc:title>Central de Suporte de TI - Simulacao de Rede de Filas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